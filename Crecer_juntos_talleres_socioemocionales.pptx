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(1 minuto):
Buenos días / buenas tardes a todas y todos. Gracias por estar aquí. Hoy queremos contarles, con el corazón, qué hemos estado trabajando con sus hijos e hijas en los talleres socioemocionales.
El título es «Crecer juntos», porque esto lo hacemos en equipo: la psicóloga, las educadoras y ustedes en casa. No es un tema técnico; es acompañar a los niños y niñas a reconocer lo que sienten, a relacionarse con amabilidad y a cuidarse.
En los próximos minutos les mostraremos el recorrido que hemos hecho y cómo pueden reforzar estas habilidades en la vida cotidiana de forma sencilla y flexible.
(Tiempo: ~45-50 seg. Dejar unos segundos de bienvenida visual.)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(1,5 minutos):
Estos talleres los hacemos porque reconocer las emociones, relacionarse con otros y aprender a cuidarse van de la mano. Cuando un niño o niña sabe qué está sintiendo, le es más fácil pedir ayuda, esperar su turno o decir «esto no me gusta».
Lo trabajamos de forma conjunta: la psicóloga introduce el tema en cada curso durante la primera semana del mes, y luego las educadoras lo refuerzan con actividades sencillas durante las tres semanas siguientes. Así el aprendizaje se va integrando poco a poco en la rutina del aula.
No buscamos que memoricen conceptos; queremos que vayan practicando, a su ritmo, habilidades que les sirvan para estar mejor consigo mismos y con sus compañeros.
(Tiempo aproximado: 1 min 20 seg. Pausar al final para mirar a las familias.)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(2 minutos):
Este es el recorrido que hemos hecho durante el año. En abril trabajamos la convivencia y el respeto: normas básicas de cortesía y tratarnos con amabilidad. En mayo, el autocuidado y la sexualidad, enfocado en límites corporales y protección. En junio, la frustración y el control de impulsos: aprender a esperar turnos y pensar antes de actuar.
En agosto, «Encuentro la calma»: identificar cómo se siente la calma en el cuerpo y usar estrategias sencillas. En septiembre, la autoestima: reconocer cualidades personales y valorarse como único.
Octubre corresponde a Empatía. El objetivo es reconocer y validar las emociones de los compañeros. Este taller se está realizando actualmente.
Noviembre será el taller de Trabajo en equipo, que aún no se ha realizado; lo presentamos como próximo.
(Tiempo: ~1 min 45 seg. Señalar visualmente la diferencia entre lo realizado y lo próximo.)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(2 minutos):
En abril trabajamos la convivencia y el respeto: usar normas básicas de cortesía y tratar a los demás con amabilidad. Cosas tan sencillas como saludar, decir por favor y gracias, o esperar el turno para hablar.
En mayo abordamos el autocuidado y la sexualidad de una manera apropiada para niños pequeños. El foco estuvo en establecer límites corporales, reconocer situaciones en las que pueden sentirse incómodos o en riesgo, y promover el autocuidado y la protección integral. Les enseñamos que su cuerpo es suyo, que pueden decir «no» si algo no les gusta, y que siempre pueden pedir ayuda a un adulto de confianza.
Evitamos relatos alarmistas; se trata de herramientas de protección y de confianza en sí mismos.
(Tiempo: ~1 min 50 seg. Hablar con tono cálido y seguro.)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(2 minutos):
En junio trabajamos la frustración y el control de impulsos. El objetivo fue aprender a esperar turnos y pensar antes de actuar. Esto lo implementaron las educadoras a partir del objetivo general; no atribuimos una actividad específica de aula.
En agosto, el tema fue «Encuentro la calma». Los niños y niñas aprendieron a identificar cómo se siente la calma en su cuerpo y a usar estrategias sencillas para autorregularse cuando se sienten alterados.
Las ideas que aparecen aquí como «ejemplo en casa» son sugerencias para que las familias puedan reforzar en el día a día; no son actividades que necesariamente se hayan realizado de esa forma en el colegio.
Por ejemplo, cuando dos niños quieren el mismo juguete, se puede practicar esperar un momento y luego compartir. O, cuando la emoción se pone intensa, respirar juntos despacio.
(Tiempo: ~1 min 50 seg.)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(2 minutos):
En septiembre trabajamos la autoestima. El objetivo fue que los niños y niñas reconozcan sus cualidades personales y se valoren como alguien único.
Un detalle concreto que sí pudimos verificar es la sesión «Yo puedo». En ella, los niños identificaron, mediante tarjetas, acciones que ya logran hacer por sí mismos. Conversaron sobre cómo aprendieron, quién los ayudó y cómo se sienten al conseguirlo. El cierre destacó que cada niño aprende a su ritmo y que todos tienen logros valiosos.
En octubre el tema es Empatía: reconocer y validar las emociones de los compañeros. Este taller se está realizando actualmente en los cursos.
(Tiempo: ~1 min 50 seg. Mencionar el ejemplo de «Yo puedo» con naturalidad.)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(1,5 minutos):
En noviembre tendremos el taller de Trabajo en equipo. El objetivo es que los niños y niñas colaboren con otros para alcanzar una meta común.
Por ahora lo presentamos como el próximo taller. No describimos una sesión ya ejecutada ni atribuimos actividades específicas que aún no están confirmadas.
Es una oportunidad para seguir fortaleciendo las habilidades que ya hemos trabajado: la amabilidad, la espera de turnos, el reconocimiento de las emociones propias y ajenas.
(Tiempo: ~1 min 20 seg. Mantener tono anticipatorio y positivo.)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(1,5 minutos):
Les dejamos cuatro invitaciones flexibles, no exigencias. Pueden adaptarlas a la realidad de cada familia:
1. Nombrar y validar las emociones. Por ejemplo: «veo que estás molesto, es normal sentirse así».
2. Modelar una pausa para recuperar la calma. Pueden respirar juntos unos segundos cuando algo se pone intenso.
3. Reconocer el esfuerzo sin comparar a los niños. Decir «qué bien lo intentaste» o «me gusta cómo perseveraste» en lugar de compararlo con un hermano o compañero.
4. Practicar turnos, escucha y colaboración en juegos o tareas cotidianas.
Son ideas sencillas para acompañar lo que ya están viviendo en el colegio.
(Tiempo: ~1 min 20 seg. Ofrecerlas con humildad.)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ORAL (1,5 minutos):
El mensaje principal es este: escuela y familia acompañamos juntos el desarrollo socioemocional de los niños y niñas.
Les dejo una pregunta sencilla de reflexión: ¿Qué emoción notaron hoy en su hijo o hija y cómo la acompañaron?
Gracias de corazón por estar aquí, por el cuidado que dan en casa y por confiar en este trabajo conjunto.
Antes de terminar, les invitamos a escanear el código QR que aparece en la pantalla para responder una breve encuesta de cierre. Sus opiniones nos ayudan a seguir mejorando.
(Tiempo: ~1 min 10 seg + unos segundos para el QR y despedida.)
---
FUENTES Y ASPECTOS PENDIENTES DE CONFIRMAR
- Fuente principal: Planificación general de talleres socioemocionales (documento Google Docs).
- Detalle verificado: Sesión «Yo puedo» de la planificación de Mi autoestima.
- Otras planificaciones individuales (Convivencia, Autocuidado, Encuentro la calma, Empatía) no fueron accesibles en su totalidad; se usaron los objetivos de la planificación general.
- Frustración y control de impulsos: implementado por educadoras según objetivo general; no se atribuye actividad específica.
- Empatía (octubre): se está realizando actualmente (confirmado).
- Trabajo en equipo (noviembre): presentado únicamente como próximo taller.
- No se inventaron dinámicas, materiales, testimonios ni resultados no documentados.
- QR de encuesta: https://forms.gle/x8dwJZPQ18cQcSy7A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8F0"/>
        </a:solidFill>
      </p:bgPr>
    </p:bg>
    <p:spTree>
      <p:nvGrpSpPr>
        <p:cNvPr id="1" name=""/>
        <p:cNvGrpSpPr/>
        <p:nvPr/>
      </p:nvGrpSpPr>
      <p:grpSpPr>
        <a:xfrm>
          <a:off x="0" y="0"/>
          <a:ext cx="0" cy="0"/>
          <a:chOff x="0" y="0"/>
          <a:chExt cx="0" cy="0"/>
        </a:xfrm>
      </p:grpSpPr>
      <p:sp>
        <p:nvSpPr>
          <p:cNvPr id="2" name="Shape 0"/>
          <p:cNvSpPr/>
          <p:nvPr/>
        </p:nvSpPr>
        <p:spPr>
          <a:xfrm>
            <a:off x="-731520" y="-457200"/>
            <a:ext cx="2011680" cy="2011680"/>
          </a:xfrm>
          <a:prstGeom prst="ellipse">
            <a:avLst/>
          </a:prstGeom>
          <a:solidFill>
            <a:srgbClr val="F8E6E6"/>
          </a:solidFill>
          <a:ln/>
        </p:spPr>
      </p:sp>
      <p:sp>
        <p:nvSpPr>
          <p:cNvPr id="3" name="Shape 1"/>
          <p:cNvSpPr/>
          <p:nvPr/>
        </p:nvSpPr>
        <p:spPr>
          <a:xfrm>
            <a:off x="7955280" y="3931920"/>
            <a:ext cx="1828800" cy="1828800"/>
          </a:xfrm>
          <a:prstGeom prst="ellipse">
            <a:avLst/>
          </a:prstGeom>
          <a:solidFill>
            <a:srgbClr val="E8F4EF"/>
          </a:solidFill>
          <a:ln/>
        </p:spPr>
      </p:sp>
      <p:pic>
        <p:nvPicPr>
          <p:cNvPr id="4"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5"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6" name="Text 2"/>
          <p:cNvSpPr/>
          <p:nvPr/>
        </p:nvSpPr>
        <p:spPr>
          <a:xfrm>
            <a:off x="731520" y="1463040"/>
            <a:ext cx="7680960" cy="1097280"/>
          </a:xfrm>
          <a:prstGeom prst="rect">
            <a:avLst/>
          </a:prstGeom>
          <a:noFill/>
          <a:ln/>
        </p:spPr>
        <p:txBody>
          <a:bodyPr wrap="square" lIns="0" tIns="0" rIns="0" bIns="0" rtlCol="0" anchor="ctr"/>
          <a:lstStyle/>
          <a:p>
            <a:pPr algn="ctr" indent="0" marL="0">
              <a:buNone/>
            </a:pPr>
            <a:r>
              <a:rPr lang="en-US" sz="4800" b="1" dirty="0">
                <a:solidFill>
                  <a:srgbClr val="2D2A32"/>
                </a:solidFill>
                <a:latin typeface="Arial" pitchFamily="34" charset="0"/>
                <a:ea typeface="Arial" pitchFamily="34" charset="-122"/>
                <a:cs typeface="Arial" pitchFamily="34" charset="-120"/>
              </a:rPr>
              <a:t>Crecer juntos</a:t>
            </a:r>
            <a:endParaRPr lang="en-US" sz="4800" dirty="0"/>
          </a:p>
        </p:txBody>
      </p:sp>
      <p:sp>
        <p:nvSpPr>
          <p:cNvPr id="7" name="Text 3"/>
          <p:cNvSpPr/>
          <p:nvPr/>
        </p:nvSpPr>
        <p:spPr>
          <a:xfrm>
            <a:off x="1097280" y="2651760"/>
            <a:ext cx="6949440" cy="822960"/>
          </a:xfrm>
          <a:prstGeom prst="rect">
            <a:avLst/>
          </a:prstGeom>
          <a:noFill/>
          <a:ln/>
        </p:spPr>
        <p:txBody>
          <a:bodyPr wrap="square" lIns="0" tIns="0" rIns="0" bIns="0" rtlCol="0" anchor="ctr"/>
          <a:lstStyle/>
          <a:p>
            <a:pPr algn="ctr" indent="0" marL="0">
              <a:buNone/>
            </a:pPr>
            <a:r>
              <a:rPr lang="en-US" sz="2200" dirty="0">
                <a:solidFill>
                  <a:srgbClr val="3D405B"/>
                </a:solidFill>
                <a:latin typeface="Arial" pitchFamily="34" charset="0"/>
                <a:ea typeface="Arial" pitchFamily="34" charset="-122"/>
                <a:cs typeface="Arial" pitchFamily="34" charset="-120"/>
              </a:rPr>
              <a:t>Lo que hemos trabajado en nuestros</a:t>
            </a:r>
            <a:endParaRPr lang="en-US" sz="2200" dirty="0"/>
          </a:p>
          <a:p>
            <a:pPr algn="ctr" indent="0" marL="0">
              <a:buNone/>
            </a:pPr>
            <a:r>
              <a:rPr lang="en-US" sz="2200" dirty="0">
                <a:solidFill>
                  <a:srgbClr val="3D405B"/>
                </a:solidFill>
                <a:latin typeface="Arial" pitchFamily="34" charset="0"/>
                <a:ea typeface="Arial" pitchFamily="34" charset="-122"/>
                <a:cs typeface="Arial" pitchFamily="34" charset="-120"/>
              </a:rPr>
              <a:t>talleres socioemocionales</a:t>
            </a:r>
            <a:endParaRPr lang="en-US" sz="2200" dirty="0"/>
          </a:p>
        </p:txBody>
      </p:sp>
      <p:sp>
        <p:nvSpPr>
          <p:cNvPr id="8" name="Text 4"/>
          <p:cNvSpPr/>
          <p:nvPr/>
        </p:nvSpPr>
        <p:spPr>
          <a:xfrm>
            <a:off x="1371600" y="3657600"/>
            <a:ext cx="6400800" cy="365760"/>
          </a:xfrm>
          <a:prstGeom prst="rect">
            <a:avLst/>
          </a:prstGeom>
          <a:noFill/>
          <a:ln/>
        </p:spPr>
        <p:txBody>
          <a:bodyPr wrap="square" lIns="0" tIns="0" rIns="0" bIns="0" rtlCol="0" anchor="ctr"/>
          <a:lstStyle/>
          <a:p>
            <a:pPr algn="ctr" indent="0" marL="0">
              <a:buNone/>
            </a:pPr>
            <a:r>
              <a:rPr lang="en-US" sz="1600" i="1" dirty="0">
                <a:solidFill>
                  <a:srgbClr val="E07A5F"/>
                </a:solidFill>
                <a:latin typeface="Arial" pitchFamily="34" charset="0"/>
                <a:ea typeface="Arial" pitchFamily="34" charset="-122"/>
                <a:cs typeface="Arial" pitchFamily="34" charset="-120"/>
              </a:rPr>
              <a:t>Para las familias de Pre-Kínder y Kínder</a:t>
            </a:r>
            <a:endParaRPr lang="en-US" sz="1600" dirty="0"/>
          </a:p>
        </p:txBody>
      </p:sp>
      <p:sp>
        <p:nvSpPr>
          <p:cNvPr id="9" name="Text 5"/>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0" name="Text 6"/>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1 / 9</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Text 0"/>
          <p:cNvSpPr/>
          <p:nvPr/>
        </p:nvSpPr>
        <p:spPr>
          <a:xfrm>
            <a:off x="777240" y="502920"/>
            <a:ext cx="7589520" cy="457200"/>
          </a:xfrm>
          <a:prstGeom prst="rect">
            <a:avLst/>
          </a:prstGeom>
          <a:noFill/>
          <a:ln/>
        </p:spPr>
        <p:txBody>
          <a:bodyPr wrap="square" lIns="0" tIns="0" rIns="0" bIns="0" rtlCol="0" anchor="ctr"/>
          <a:lstStyle/>
          <a:p>
            <a:pPr indent="0" marL="0">
              <a:buNone/>
            </a:pPr>
            <a:r>
              <a:rPr lang="en-US" sz="2800" b="1" dirty="0">
                <a:solidFill>
                  <a:srgbClr val="2D2A32"/>
                </a:solidFill>
                <a:latin typeface="Arial" pitchFamily="34" charset="0"/>
                <a:ea typeface="Arial" pitchFamily="34" charset="-122"/>
                <a:cs typeface="Arial" pitchFamily="34" charset="-120"/>
              </a:rPr>
              <a:t>¿Para qué hacemos estos talleres?</a:t>
            </a:r>
            <a:endParaRPr lang="en-US" sz="2800" dirty="0"/>
          </a:p>
        </p:txBody>
      </p:sp>
      <p:sp>
        <p:nvSpPr>
          <p:cNvPr id="5" name="Shape 1"/>
          <p:cNvSpPr/>
          <p:nvPr/>
        </p:nvSpPr>
        <p:spPr>
          <a:xfrm>
            <a:off x="548640" y="1097280"/>
            <a:ext cx="8046720" cy="1005840"/>
          </a:xfrm>
          <a:prstGeom prst="roundRect">
            <a:avLst>
              <a:gd name="adj" fmla="val 13636"/>
            </a:avLst>
          </a:prstGeom>
          <a:solidFill>
            <a:srgbClr val="F8E6E6"/>
          </a:solidFill>
          <a:ln/>
        </p:spPr>
      </p:sp>
      <p:sp>
        <p:nvSpPr>
          <p:cNvPr id="6" name="Text 2"/>
          <p:cNvSpPr/>
          <p:nvPr/>
        </p:nvSpPr>
        <p:spPr>
          <a:xfrm>
            <a:off x="822960" y="1188720"/>
            <a:ext cx="7498080" cy="32004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Reconocer emociones</a:t>
            </a:r>
            <a:endParaRPr lang="en-US" sz="1600" dirty="0"/>
          </a:p>
        </p:txBody>
      </p:sp>
      <p:sp>
        <p:nvSpPr>
          <p:cNvPr id="7" name="Text 3"/>
          <p:cNvSpPr/>
          <p:nvPr/>
        </p:nvSpPr>
        <p:spPr>
          <a:xfrm>
            <a:off x="822960" y="1508760"/>
            <a:ext cx="7498080" cy="50292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Aprender a notar lo que sentimos</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y ponerle nombre.</a:t>
            </a:r>
            <a:endParaRPr lang="en-US" sz="1400" dirty="0"/>
          </a:p>
        </p:txBody>
      </p:sp>
      <p:sp>
        <p:nvSpPr>
          <p:cNvPr id="8" name="Shape 4"/>
          <p:cNvSpPr/>
          <p:nvPr/>
        </p:nvSpPr>
        <p:spPr>
          <a:xfrm>
            <a:off x="548640" y="2240280"/>
            <a:ext cx="8046720" cy="1005840"/>
          </a:xfrm>
          <a:prstGeom prst="roundRect">
            <a:avLst>
              <a:gd name="adj" fmla="val 13636"/>
            </a:avLst>
          </a:prstGeom>
          <a:solidFill>
            <a:srgbClr val="E8F4EF"/>
          </a:solidFill>
          <a:ln/>
        </p:spPr>
      </p:sp>
      <p:sp>
        <p:nvSpPr>
          <p:cNvPr id="9" name="Text 5"/>
          <p:cNvSpPr/>
          <p:nvPr/>
        </p:nvSpPr>
        <p:spPr>
          <a:xfrm>
            <a:off x="822960" y="2331720"/>
            <a:ext cx="7498080" cy="32004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Relacionarnos con otros</a:t>
            </a:r>
            <a:endParaRPr lang="en-US" sz="1600" dirty="0"/>
          </a:p>
        </p:txBody>
      </p:sp>
      <p:sp>
        <p:nvSpPr>
          <p:cNvPr id="10" name="Text 6"/>
          <p:cNvSpPr/>
          <p:nvPr/>
        </p:nvSpPr>
        <p:spPr>
          <a:xfrm>
            <a:off x="822960" y="2651760"/>
            <a:ext cx="7498080" cy="50292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Tratarnos con amabilidad,</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respetar turnos y cuidarnos.</a:t>
            </a:r>
            <a:endParaRPr lang="en-US" sz="1400" dirty="0"/>
          </a:p>
        </p:txBody>
      </p:sp>
      <p:sp>
        <p:nvSpPr>
          <p:cNvPr id="11" name="Shape 7"/>
          <p:cNvSpPr/>
          <p:nvPr/>
        </p:nvSpPr>
        <p:spPr>
          <a:xfrm>
            <a:off x="548640" y="3383280"/>
            <a:ext cx="8046720" cy="1005840"/>
          </a:xfrm>
          <a:prstGeom prst="roundRect">
            <a:avLst>
              <a:gd name="adj" fmla="val 13636"/>
            </a:avLst>
          </a:prstGeom>
          <a:solidFill>
            <a:srgbClr val="F2CC8F"/>
          </a:solidFill>
          <a:ln/>
        </p:spPr>
      </p:sp>
      <p:sp>
        <p:nvSpPr>
          <p:cNvPr id="12" name="Text 8"/>
          <p:cNvSpPr/>
          <p:nvPr/>
        </p:nvSpPr>
        <p:spPr>
          <a:xfrm>
            <a:off x="822960" y="3474720"/>
            <a:ext cx="7498080" cy="32004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Cuidarnos</a:t>
            </a:r>
            <a:endParaRPr lang="en-US" sz="1600" dirty="0"/>
          </a:p>
        </p:txBody>
      </p:sp>
      <p:sp>
        <p:nvSpPr>
          <p:cNvPr id="13" name="Text 9"/>
          <p:cNvSpPr/>
          <p:nvPr/>
        </p:nvSpPr>
        <p:spPr>
          <a:xfrm>
            <a:off x="822960" y="3794760"/>
            <a:ext cx="7498080" cy="50292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Saber cuándo pedir ayuda</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y establecer límites claros.</a:t>
            </a:r>
            <a:endParaRPr lang="en-US" sz="1400" dirty="0"/>
          </a:p>
        </p:txBody>
      </p:sp>
      <p:sp>
        <p:nvSpPr>
          <p:cNvPr id="14" name="Text 10"/>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5" name="Text 11"/>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2 / 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Text 0"/>
          <p:cNvSpPr/>
          <p:nvPr/>
        </p:nvSpPr>
        <p:spPr>
          <a:xfrm>
            <a:off x="777240" y="502920"/>
            <a:ext cx="7589520" cy="457200"/>
          </a:xfrm>
          <a:prstGeom prst="rect">
            <a:avLst/>
          </a:prstGeom>
          <a:noFill/>
          <a:ln/>
        </p:spPr>
        <p:txBody>
          <a:bodyPr wrap="square" lIns="0" tIns="0" rIns="0" bIns="0" rtlCol="0" anchor="ctr"/>
          <a:lstStyle/>
          <a:p>
            <a:pPr indent="0" marL="0">
              <a:buNone/>
            </a:pPr>
            <a:r>
              <a:rPr lang="en-US" sz="2800" b="1" dirty="0">
                <a:solidFill>
                  <a:srgbClr val="2D2A32"/>
                </a:solidFill>
                <a:latin typeface="Arial" pitchFamily="34" charset="0"/>
                <a:ea typeface="Arial" pitchFamily="34" charset="-122"/>
                <a:cs typeface="Arial" pitchFamily="34" charset="-120"/>
              </a:rPr>
              <a:t>Nuestro recorrido</a:t>
            </a:r>
            <a:endParaRPr lang="en-US" sz="2800" dirty="0"/>
          </a:p>
        </p:txBody>
      </p:sp>
      <p:sp>
        <p:nvSpPr>
          <p:cNvPr id="5" name="Shape 1"/>
          <p:cNvSpPr/>
          <p:nvPr/>
        </p:nvSpPr>
        <p:spPr>
          <a:xfrm>
            <a:off x="365760" y="1188720"/>
            <a:ext cx="1143000" cy="2194560"/>
          </a:xfrm>
          <a:prstGeom prst="roundRect">
            <a:avLst>
              <a:gd name="adj" fmla="val 8000"/>
            </a:avLst>
          </a:prstGeom>
          <a:solidFill>
            <a:srgbClr val="E8F4EF"/>
          </a:solidFill>
          <a:ln/>
        </p:spPr>
      </p:sp>
      <p:sp>
        <p:nvSpPr>
          <p:cNvPr id="6" name="Text 2"/>
          <p:cNvSpPr/>
          <p:nvPr/>
        </p:nvSpPr>
        <p:spPr>
          <a:xfrm>
            <a:off x="365760" y="1280160"/>
            <a:ext cx="1143000" cy="320040"/>
          </a:xfrm>
          <a:prstGeom prst="rect">
            <a:avLst/>
          </a:prstGeom>
          <a:noFill/>
          <a:ln/>
        </p:spPr>
        <p:txBody>
          <a:bodyPr wrap="square" lIns="0" tIns="0" rIns="0" bIns="0" rtlCol="0" anchor="ctr"/>
          <a:lstStyle/>
          <a:p>
            <a:pPr algn="ctr" indent="0" marL="0">
              <a:buNone/>
            </a:pPr>
            <a:r>
              <a:rPr lang="en-US" sz="1100" b="1" dirty="0">
                <a:solidFill>
                  <a:srgbClr val="2D2A32"/>
                </a:solidFill>
                <a:latin typeface="Arial" pitchFamily="34" charset="0"/>
                <a:ea typeface="Arial" pitchFamily="34" charset="-122"/>
                <a:cs typeface="Arial" pitchFamily="34" charset="-120"/>
              </a:rPr>
              <a:t>Abril</a:t>
            </a:r>
            <a:endParaRPr lang="en-US" sz="1100" dirty="0"/>
          </a:p>
        </p:txBody>
      </p:sp>
      <p:sp>
        <p:nvSpPr>
          <p:cNvPr id="7" name="Text 3"/>
          <p:cNvSpPr/>
          <p:nvPr/>
        </p:nvSpPr>
        <p:spPr>
          <a:xfrm>
            <a:off x="411480" y="1645920"/>
            <a:ext cx="1051560" cy="1005840"/>
          </a:xfrm>
          <a:prstGeom prst="rect">
            <a:avLst/>
          </a:prstGeom>
          <a:noFill/>
          <a:ln/>
        </p:spPr>
        <p:txBody>
          <a:bodyPr wrap="square" lIns="0" tIns="0" rIns="0" bIns="0" rtlCol="0" anchor="ctr"/>
          <a:lstStyle/>
          <a:p>
            <a:pPr algn="ctr" indent="0" marL="0">
              <a:buNone/>
            </a:pPr>
            <a:r>
              <a:rPr lang="en-US" sz="1100" dirty="0">
                <a:solidFill>
                  <a:srgbClr val="3D405B"/>
                </a:solidFill>
                <a:latin typeface="Arial" pitchFamily="34" charset="0"/>
                <a:ea typeface="Arial" pitchFamily="34" charset="-122"/>
                <a:cs typeface="Arial" pitchFamily="34" charset="-120"/>
              </a:rPr>
              <a:t>Convivencia</a:t>
            </a:r>
            <a:endParaRPr lang="en-US" sz="1100" dirty="0"/>
          </a:p>
          <a:p>
            <a:pPr algn="ctr" indent="0" marL="0">
              <a:buNone/>
            </a:pPr>
            <a:r>
              <a:rPr lang="en-US" sz="1100" dirty="0">
                <a:solidFill>
                  <a:srgbClr val="3D405B"/>
                </a:solidFill>
                <a:latin typeface="Arial" pitchFamily="34" charset="0"/>
                <a:ea typeface="Arial" pitchFamily="34" charset="-122"/>
                <a:cs typeface="Arial" pitchFamily="34" charset="-120"/>
              </a:rPr>
              <a:t>y respeto</a:t>
            </a:r>
            <a:endParaRPr lang="en-US" sz="1100" dirty="0"/>
          </a:p>
        </p:txBody>
      </p:sp>
      <p:sp>
        <p:nvSpPr>
          <p:cNvPr id="8" name="Shape 4"/>
          <p:cNvSpPr/>
          <p:nvPr/>
        </p:nvSpPr>
        <p:spPr>
          <a:xfrm>
            <a:off x="1600200" y="1188720"/>
            <a:ext cx="1143000" cy="2194560"/>
          </a:xfrm>
          <a:prstGeom prst="roundRect">
            <a:avLst>
              <a:gd name="adj" fmla="val 8000"/>
            </a:avLst>
          </a:prstGeom>
          <a:solidFill>
            <a:srgbClr val="E8F4EF"/>
          </a:solidFill>
          <a:ln/>
        </p:spPr>
      </p:sp>
      <p:sp>
        <p:nvSpPr>
          <p:cNvPr id="9" name="Text 5"/>
          <p:cNvSpPr/>
          <p:nvPr/>
        </p:nvSpPr>
        <p:spPr>
          <a:xfrm>
            <a:off x="1600200" y="1280160"/>
            <a:ext cx="1143000" cy="320040"/>
          </a:xfrm>
          <a:prstGeom prst="rect">
            <a:avLst/>
          </a:prstGeom>
          <a:noFill/>
          <a:ln/>
        </p:spPr>
        <p:txBody>
          <a:bodyPr wrap="square" lIns="0" tIns="0" rIns="0" bIns="0" rtlCol="0" anchor="ctr"/>
          <a:lstStyle/>
          <a:p>
            <a:pPr algn="ctr" indent="0" marL="0">
              <a:buNone/>
            </a:pPr>
            <a:r>
              <a:rPr lang="en-US" sz="1100" b="1" dirty="0">
                <a:solidFill>
                  <a:srgbClr val="2D2A32"/>
                </a:solidFill>
                <a:latin typeface="Arial" pitchFamily="34" charset="0"/>
                <a:ea typeface="Arial" pitchFamily="34" charset="-122"/>
                <a:cs typeface="Arial" pitchFamily="34" charset="-120"/>
              </a:rPr>
              <a:t>Mayo</a:t>
            </a:r>
            <a:endParaRPr lang="en-US" sz="1100" dirty="0"/>
          </a:p>
        </p:txBody>
      </p:sp>
      <p:sp>
        <p:nvSpPr>
          <p:cNvPr id="10" name="Text 6"/>
          <p:cNvSpPr/>
          <p:nvPr/>
        </p:nvSpPr>
        <p:spPr>
          <a:xfrm>
            <a:off x="1645920" y="1645920"/>
            <a:ext cx="1051560" cy="1005840"/>
          </a:xfrm>
          <a:prstGeom prst="rect">
            <a:avLst/>
          </a:prstGeom>
          <a:noFill/>
          <a:ln/>
        </p:spPr>
        <p:txBody>
          <a:bodyPr wrap="square" lIns="0" tIns="0" rIns="0" bIns="0" rtlCol="0" anchor="ctr"/>
          <a:lstStyle/>
          <a:p>
            <a:pPr algn="ctr" indent="0" marL="0">
              <a:buNone/>
            </a:pPr>
            <a:r>
              <a:rPr lang="en-US" sz="1100" dirty="0">
                <a:solidFill>
                  <a:srgbClr val="3D405B"/>
                </a:solidFill>
                <a:latin typeface="Arial" pitchFamily="34" charset="0"/>
                <a:ea typeface="Arial" pitchFamily="34" charset="-122"/>
                <a:cs typeface="Arial" pitchFamily="34" charset="-120"/>
              </a:rPr>
              <a:t>Autocuidado</a:t>
            </a:r>
            <a:endParaRPr lang="en-US" sz="1100" dirty="0"/>
          </a:p>
          <a:p>
            <a:pPr algn="ctr" indent="0" marL="0">
              <a:buNone/>
            </a:pPr>
            <a:r>
              <a:rPr lang="en-US" sz="1100" dirty="0">
                <a:solidFill>
                  <a:srgbClr val="3D405B"/>
                </a:solidFill>
                <a:latin typeface="Arial" pitchFamily="34" charset="0"/>
                <a:ea typeface="Arial" pitchFamily="34" charset="-122"/>
                <a:cs typeface="Arial" pitchFamily="34" charset="-120"/>
              </a:rPr>
              <a:t>y sexualidad</a:t>
            </a:r>
            <a:endParaRPr lang="en-US" sz="1100" dirty="0"/>
          </a:p>
        </p:txBody>
      </p:sp>
      <p:sp>
        <p:nvSpPr>
          <p:cNvPr id="11" name="Shape 7"/>
          <p:cNvSpPr/>
          <p:nvPr/>
        </p:nvSpPr>
        <p:spPr>
          <a:xfrm>
            <a:off x="2834640" y="1188720"/>
            <a:ext cx="1143000" cy="2194560"/>
          </a:xfrm>
          <a:prstGeom prst="roundRect">
            <a:avLst>
              <a:gd name="adj" fmla="val 8000"/>
            </a:avLst>
          </a:prstGeom>
          <a:solidFill>
            <a:srgbClr val="E8F4EF"/>
          </a:solidFill>
          <a:ln/>
        </p:spPr>
      </p:sp>
      <p:sp>
        <p:nvSpPr>
          <p:cNvPr id="12" name="Text 8"/>
          <p:cNvSpPr/>
          <p:nvPr/>
        </p:nvSpPr>
        <p:spPr>
          <a:xfrm>
            <a:off x="2834640" y="1280160"/>
            <a:ext cx="1143000" cy="320040"/>
          </a:xfrm>
          <a:prstGeom prst="rect">
            <a:avLst/>
          </a:prstGeom>
          <a:noFill/>
          <a:ln/>
        </p:spPr>
        <p:txBody>
          <a:bodyPr wrap="square" lIns="0" tIns="0" rIns="0" bIns="0" rtlCol="0" anchor="ctr"/>
          <a:lstStyle/>
          <a:p>
            <a:pPr algn="ctr" indent="0" marL="0">
              <a:buNone/>
            </a:pPr>
            <a:r>
              <a:rPr lang="en-US" sz="1100" b="1" dirty="0">
                <a:solidFill>
                  <a:srgbClr val="2D2A32"/>
                </a:solidFill>
                <a:latin typeface="Arial" pitchFamily="34" charset="0"/>
                <a:ea typeface="Arial" pitchFamily="34" charset="-122"/>
                <a:cs typeface="Arial" pitchFamily="34" charset="-120"/>
              </a:rPr>
              <a:t>Junio</a:t>
            </a:r>
            <a:endParaRPr lang="en-US" sz="1100" dirty="0"/>
          </a:p>
        </p:txBody>
      </p:sp>
      <p:sp>
        <p:nvSpPr>
          <p:cNvPr id="13" name="Text 9"/>
          <p:cNvSpPr/>
          <p:nvPr/>
        </p:nvSpPr>
        <p:spPr>
          <a:xfrm>
            <a:off x="2880360" y="1645920"/>
            <a:ext cx="1051560" cy="1005840"/>
          </a:xfrm>
          <a:prstGeom prst="rect">
            <a:avLst/>
          </a:prstGeom>
          <a:noFill/>
          <a:ln/>
        </p:spPr>
        <p:txBody>
          <a:bodyPr wrap="square" lIns="0" tIns="0" rIns="0" bIns="0" rtlCol="0" anchor="ctr"/>
          <a:lstStyle/>
          <a:p>
            <a:pPr algn="ctr" indent="0" marL="0">
              <a:buNone/>
            </a:pPr>
            <a:r>
              <a:rPr lang="en-US" sz="1100" dirty="0">
                <a:solidFill>
                  <a:srgbClr val="3D405B"/>
                </a:solidFill>
                <a:latin typeface="Arial" pitchFamily="34" charset="0"/>
                <a:ea typeface="Arial" pitchFamily="34" charset="-122"/>
                <a:cs typeface="Arial" pitchFamily="34" charset="-120"/>
              </a:rPr>
              <a:t>Frustración y</a:t>
            </a:r>
            <a:endParaRPr lang="en-US" sz="1100" dirty="0"/>
          </a:p>
          <a:p>
            <a:pPr algn="ctr" indent="0" marL="0">
              <a:buNone/>
            </a:pPr>
            <a:r>
              <a:rPr lang="en-US" sz="1100" dirty="0">
                <a:solidFill>
                  <a:srgbClr val="3D405B"/>
                </a:solidFill>
                <a:latin typeface="Arial" pitchFamily="34" charset="0"/>
                <a:ea typeface="Arial" pitchFamily="34" charset="-122"/>
                <a:cs typeface="Arial" pitchFamily="34" charset="-120"/>
              </a:rPr>
              <a:t>control de impulsos</a:t>
            </a:r>
            <a:endParaRPr lang="en-US" sz="1100" dirty="0"/>
          </a:p>
        </p:txBody>
      </p:sp>
      <p:sp>
        <p:nvSpPr>
          <p:cNvPr id="14" name="Shape 10"/>
          <p:cNvSpPr/>
          <p:nvPr/>
        </p:nvSpPr>
        <p:spPr>
          <a:xfrm>
            <a:off x="4069080" y="1188720"/>
            <a:ext cx="1143000" cy="2194560"/>
          </a:xfrm>
          <a:prstGeom prst="roundRect">
            <a:avLst>
              <a:gd name="adj" fmla="val 8000"/>
            </a:avLst>
          </a:prstGeom>
          <a:solidFill>
            <a:srgbClr val="E8F4EF"/>
          </a:solidFill>
          <a:ln/>
        </p:spPr>
      </p:sp>
      <p:sp>
        <p:nvSpPr>
          <p:cNvPr id="15" name="Text 11"/>
          <p:cNvSpPr/>
          <p:nvPr/>
        </p:nvSpPr>
        <p:spPr>
          <a:xfrm>
            <a:off x="4069080" y="1280160"/>
            <a:ext cx="1143000" cy="320040"/>
          </a:xfrm>
          <a:prstGeom prst="rect">
            <a:avLst/>
          </a:prstGeom>
          <a:noFill/>
          <a:ln/>
        </p:spPr>
        <p:txBody>
          <a:bodyPr wrap="square" lIns="0" tIns="0" rIns="0" bIns="0" rtlCol="0" anchor="ctr"/>
          <a:lstStyle/>
          <a:p>
            <a:pPr algn="ctr" indent="0" marL="0">
              <a:buNone/>
            </a:pPr>
            <a:r>
              <a:rPr lang="en-US" sz="1100" b="1" dirty="0">
                <a:solidFill>
                  <a:srgbClr val="2D2A32"/>
                </a:solidFill>
                <a:latin typeface="Arial" pitchFamily="34" charset="0"/>
                <a:ea typeface="Arial" pitchFamily="34" charset="-122"/>
                <a:cs typeface="Arial" pitchFamily="34" charset="-120"/>
              </a:rPr>
              <a:t>Agosto</a:t>
            </a:r>
            <a:endParaRPr lang="en-US" sz="1100" dirty="0"/>
          </a:p>
        </p:txBody>
      </p:sp>
      <p:sp>
        <p:nvSpPr>
          <p:cNvPr id="16" name="Text 12"/>
          <p:cNvSpPr/>
          <p:nvPr/>
        </p:nvSpPr>
        <p:spPr>
          <a:xfrm>
            <a:off x="4114800" y="1645920"/>
            <a:ext cx="1051560" cy="1005840"/>
          </a:xfrm>
          <a:prstGeom prst="rect">
            <a:avLst/>
          </a:prstGeom>
          <a:noFill/>
          <a:ln/>
        </p:spPr>
        <p:txBody>
          <a:bodyPr wrap="square" lIns="0" tIns="0" rIns="0" bIns="0" rtlCol="0" anchor="ctr"/>
          <a:lstStyle/>
          <a:p>
            <a:pPr algn="ctr" indent="0" marL="0">
              <a:buNone/>
            </a:pPr>
            <a:r>
              <a:rPr lang="en-US" sz="1100" dirty="0">
                <a:solidFill>
                  <a:srgbClr val="3D405B"/>
                </a:solidFill>
                <a:latin typeface="Arial" pitchFamily="34" charset="0"/>
                <a:ea typeface="Arial" pitchFamily="34" charset="-122"/>
                <a:cs typeface="Arial" pitchFamily="34" charset="-120"/>
              </a:rPr>
              <a:t>Encuentro</a:t>
            </a:r>
            <a:endParaRPr lang="en-US" sz="1100" dirty="0"/>
          </a:p>
          <a:p>
            <a:pPr algn="ctr" indent="0" marL="0">
              <a:buNone/>
            </a:pPr>
            <a:r>
              <a:rPr lang="en-US" sz="1100" dirty="0">
                <a:solidFill>
                  <a:srgbClr val="3D405B"/>
                </a:solidFill>
                <a:latin typeface="Arial" pitchFamily="34" charset="0"/>
                <a:ea typeface="Arial" pitchFamily="34" charset="-122"/>
                <a:cs typeface="Arial" pitchFamily="34" charset="-120"/>
              </a:rPr>
              <a:t>la calma</a:t>
            </a:r>
            <a:endParaRPr lang="en-US" sz="1100" dirty="0"/>
          </a:p>
        </p:txBody>
      </p:sp>
      <p:sp>
        <p:nvSpPr>
          <p:cNvPr id="17" name="Shape 13"/>
          <p:cNvSpPr/>
          <p:nvPr/>
        </p:nvSpPr>
        <p:spPr>
          <a:xfrm>
            <a:off x="5303520" y="1188720"/>
            <a:ext cx="1143000" cy="2194560"/>
          </a:xfrm>
          <a:prstGeom prst="roundRect">
            <a:avLst>
              <a:gd name="adj" fmla="val 8000"/>
            </a:avLst>
          </a:prstGeom>
          <a:solidFill>
            <a:srgbClr val="E8F4EF"/>
          </a:solidFill>
          <a:ln/>
        </p:spPr>
      </p:sp>
      <p:sp>
        <p:nvSpPr>
          <p:cNvPr id="18" name="Text 14"/>
          <p:cNvSpPr/>
          <p:nvPr/>
        </p:nvSpPr>
        <p:spPr>
          <a:xfrm>
            <a:off x="5303520" y="1280160"/>
            <a:ext cx="1143000" cy="320040"/>
          </a:xfrm>
          <a:prstGeom prst="rect">
            <a:avLst/>
          </a:prstGeom>
          <a:noFill/>
          <a:ln/>
        </p:spPr>
        <p:txBody>
          <a:bodyPr wrap="square" lIns="0" tIns="0" rIns="0" bIns="0" rtlCol="0" anchor="ctr"/>
          <a:lstStyle/>
          <a:p>
            <a:pPr algn="ctr" indent="0" marL="0">
              <a:buNone/>
            </a:pPr>
            <a:r>
              <a:rPr lang="en-US" sz="1100" b="1" dirty="0">
                <a:solidFill>
                  <a:srgbClr val="2D2A32"/>
                </a:solidFill>
                <a:latin typeface="Arial" pitchFamily="34" charset="0"/>
                <a:ea typeface="Arial" pitchFamily="34" charset="-122"/>
                <a:cs typeface="Arial" pitchFamily="34" charset="-120"/>
              </a:rPr>
              <a:t>Septiembre</a:t>
            </a:r>
            <a:endParaRPr lang="en-US" sz="1100" dirty="0"/>
          </a:p>
        </p:txBody>
      </p:sp>
      <p:sp>
        <p:nvSpPr>
          <p:cNvPr id="19" name="Text 15"/>
          <p:cNvSpPr/>
          <p:nvPr/>
        </p:nvSpPr>
        <p:spPr>
          <a:xfrm>
            <a:off x="5349240" y="1645920"/>
            <a:ext cx="1051560" cy="1005840"/>
          </a:xfrm>
          <a:prstGeom prst="rect">
            <a:avLst/>
          </a:prstGeom>
          <a:noFill/>
          <a:ln/>
        </p:spPr>
        <p:txBody>
          <a:bodyPr wrap="square" lIns="0" tIns="0" rIns="0" bIns="0" rtlCol="0" anchor="ctr"/>
          <a:lstStyle/>
          <a:p>
            <a:pPr algn="ctr" indent="0" marL="0">
              <a:buNone/>
            </a:pPr>
            <a:r>
              <a:rPr lang="en-US" sz="1100" dirty="0">
                <a:solidFill>
                  <a:srgbClr val="3D405B"/>
                </a:solidFill>
                <a:latin typeface="Arial" pitchFamily="34" charset="0"/>
                <a:ea typeface="Arial" pitchFamily="34" charset="-122"/>
                <a:cs typeface="Arial" pitchFamily="34" charset="-120"/>
              </a:rPr>
              <a:t>Autoestima</a:t>
            </a:r>
            <a:endParaRPr lang="en-US" sz="1100" dirty="0"/>
          </a:p>
        </p:txBody>
      </p:sp>
      <p:sp>
        <p:nvSpPr>
          <p:cNvPr id="20" name="Shape 16"/>
          <p:cNvSpPr/>
          <p:nvPr/>
        </p:nvSpPr>
        <p:spPr>
          <a:xfrm>
            <a:off x="6537960" y="1188720"/>
            <a:ext cx="1143000" cy="2194560"/>
          </a:xfrm>
          <a:prstGeom prst="roundRect">
            <a:avLst>
              <a:gd name="adj" fmla="val 8000"/>
            </a:avLst>
          </a:prstGeom>
          <a:solidFill>
            <a:srgbClr val="F8E6E6"/>
          </a:solidFill>
          <a:ln/>
        </p:spPr>
      </p:sp>
      <p:sp>
        <p:nvSpPr>
          <p:cNvPr id="21" name="Text 17"/>
          <p:cNvSpPr/>
          <p:nvPr/>
        </p:nvSpPr>
        <p:spPr>
          <a:xfrm>
            <a:off x="6537960" y="1280160"/>
            <a:ext cx="1143000" cy="320040"/>
          </a:xfrm>
          <a:prstGeom prst="rect">
            <a:avLst/>
          </a:prstGeom>
          <a:noFill/>
          <a:ln/>
        </p:spPr>
        <p:txBody>
          <a:bodyPr wrap="square" lIns="0" tIns="0" rIns="0" bIns="0" rtlCol="0" anchor="ctr"/>
          <a:lstStyle/>
          <a:p>
            <a:pPr algn="ctr" indent="0" marL="0">
              <a:buNone/>
            </a:pPr>
            <a:r>
              <a:rPr lang="en-US" sz="1100" b="1" dirty="0">
                <a:solidFill>
                  <a:srgbClr val="2D2A32"/>
                </a:solidFill>
                <a:latin typeface="Arial" pitchFamily="34" charset="0"/>
                <a:ea typeface="Arial" pitchFamily="34" charset="-122"/>
                <a:cs typeface="Arial" pitchFamily="34" charset="-120"/>
              </a:rPr>
              <a:t>Octubre</a:t>
            </a:r>
            <a:endParaRPr lang="en-US" sz="1100" dirty="0"/>
          </a:p>
        </p:txBody>
      </p:sp>
      <p:sp>
        <p:nvSpPr>
          <p:cNvPr id="22" name="Text 18"/>
          <p:cNvSpPr/>
          <p:nvPr/>
        </p:nvSpPr>
        <p:spPr>
          <a:xfrm>
            <a:off x="6583680" y="1645920"/>
            <a:ext cx="1051560" cy="1005840"/>
          </a:xfrm>
          <a:prstGeom prst="rect">
            <a:avLst/>
          </a:prstGeom>
          <a:noFill/>
          <a:ln/>
        </p:spPr>
        <p:txBody>
          <a:bodyPr wrap="square" lIns="0" tIns="0" rIns="0" bIns="0" rtlCol="0" anchor="ctr"/>
          <a:lstStyle/>
          <a:p>
            <a:pPr algn="ctr" indent="0" marL="0">
              <a:buNone/>
            </a:pPr>
            <a:r>
              <a:rPr lang="en-US" sz="1100" dirty="0">
                <a:solidFill>
                  <a:srgbClr val="3D405B"/>
                </a:solidFill>
                <a:latin typeface="Arial" pitchFamily="34" charset="0"/>
                <a:ea typeface="Arial" pitchFamily="34" charset="-122"/>
                <a:cs typeface="Arial" pitchFamily="34" charset="-120"/>
              </a:rPr>
              <a:t>Empatía</a:t>
            </a:r>
            <a:endParaRPr lang="en-US" sz="1100" dirty="0"/>
          </a:p>
        </p:txBody>
      </p:sp>
      <p:sp>
        <p:nvSpPr>
          <p:cNvPr id="23" name="Text 19"/>
          <p:cNvSpPr/>
          <p:nvPr/>
        </p:nvSpPr>
        <p:spPr>
          <a:xfrm>
            <a:off x="6537960" y="2834640"/>
            <a:ext cx="1143000" cy="274320"/>
          </a:xfrm>
          <a:prstGeom prst="rect">
            <a:avLst/>
          </a:prstGeom>
          <a:noFill/>
          <a:ln/>
        </p:spPr>
        <p:txBody>
          <a:bodyPr wrap="square" lIns="0" tIns="0" rIns="0" bIns="0" rtlCol="0" anchor="ctr"/>
          <a:lstStyle/>
          <a:p>
            <a:pPr algn="ctr" indent="0" marL="0">
              <a:buNone/>
            </a:pPr>
            <a:r>
              <a:rPr lang="en-US" sz="1000" b="1" dirty="0">
                <a:solidFill>
                  <a:srgbClr val="E07A5F"/>
                </a:solidFill>
                <a:latin typeface="Arial" pitchFamily="34" charset="0"/>
                <a:ea typeface="Arial" pitchFamily="34" charset="-122"/>
                <a:cs typeface="Arial" pitchFamily="34" charset="-120"/>
              </a:rPr>
              <a:t>En curso</a:t>
            </a:r>
            <a:endParaRPr lang="en-US" sz="1000" dirty="0"/>
          </a:p>
        </p:txBody>
      </p:sp>
      <p:sp>
        <p:nvSpPr>
          <p:cNvPr id="24" name="Shape 20"/>
          <p:cNvSpPr/>
          <p:nvPr/>
        </p:nvSpPr>
        <p:spPr>
          <a:xfrm>
            <a:off x="7772400" y="1188720"/>
            <a:ext cx="1143000" cy="2194560"/>
          </a:xfrm>
          <a:prstGeom prst="roundRect">
            <a:avLst>
              <a:gd name="adj" fmla="val 8000"/>
            </a:avLst>
          </a:prstGeom>
          <a:solidFill>
            <a:srgbClr val="F2CC8F"/>
          </a:solidFill>
          <a:ln/>
        </p:spPr>
      </p:sp>
      <p:sp>
        <p:nvSpPr>
          <p:cNvPr id="25" name="Text 21"/>
          <p:cNvSpPr/>
          <p:nvPr/>
        </p:nvSpPr>
        <p:spPr>
          <a:xfrm>
            <a:off x="7772400" y="1280160"/>
            <a:ext cx="1143000" cy="320040"/>
          </a:xfrm>
          <a:prstGeom prst="rect">
            <a:avLst/>
          </a:prstGeom>
          <a:noFill/>
          <a:ln/>
        </p:spPr>
        <p:txBody>
          <a:bodyPr wrap="square" lIns="0" tIns="0" rIns="0" bIns="0" rtlCol="0" anchor="ctr"/>
          <a:lstStyle/>
          <a:p>
            <a:pPr algn="ctr" indent="0" marL="0">
              <a:buNone/>
            </a:pPr>
            <a:r>
              <a:rPr lang="en-US" sz="1100" b="1" dirty="0">
                <a:solidFill>
                  <a:srgbClr val="2D2A32"/>
                </a:solidFill>
                <a:latin typeface="Arial" pitchFamily="34" charset="0"/>
                <a:ea typeface="Arial" pitchFamily="34" charset="-122"/>
                <a:cs typeface="Arial" pitchFamily="34" charset="-120"/>
              </a:rPr>
              <a:t>Noviembre</a:t>
            </a:r>
            <a:endParaRPr lang="en-US" sz="1100" dirty="0"/>
          </a:p>
        </p:txBody>
      </p:sp>
      <p:sp>
        <p:nvSpPr>
          <p:cNvPr id="26" name="Text 22"/>
          <p:cNvSpPr/>
          <p:nvPr/>
        </p:nvSpPr>
        <p:spPr>
          <a:xfrm>
            <a:off x="7818120" y="1645920"/>
            <a:ext cx="1051560" cy="1005840"/>
          </a:xfrm>
          <a:prstGeom prst="rect">
            <a:avLst/>
          </a:prstGeom>
          <a:noFill/>
          <a:ln/>
        </p:spPr>
        <p:txBody>
          <a:bodyPr wrap="square" lIns="0" tIns="0" rIns="0" bIns="0" rtlCol="0" anchor="ctr"/>
          <a:lstStyle/>
          <a:p>
            <a:pPr algn="ctr" indent="0" marL="0">
              <a:buNone/>
            </a:pPr>
            <a:r>
              <a:rPr lang="en-US" sz="1100" dirty="0">
                <a:solidFill>
                  <a:srgbClr val="3D405B"/>
                </a:solidFill>
                <a:latin typeface="Arial" pitchFamily="34" charset="0"/>
                <a:ea typeface="Arial" pitchFamily="34" charset="-122"/>
                <a:cs typeface="Arial" pitchFamily="34" charset="-120"/>
              </a:rPr>
              <a:t>Trabajo</a:t>
            </a:r>
            <a:endParaRPr lang="en-US" sz="1100" dirty="0"/>
          </a:p>
          <a:p>
            <a:pPr algn="ctr" indent="0" marL="0">
              <a:buNone/>
            </a:pPr>
            <a:r>
              <a:rPr lang="en-US" sz="1100" dirty="0">
                <a:solidFill>
                  <a:srgbClr val="3D405B"/>
                </a:solidFill>
                <a:latin typeface="Arial" pitchFamily="34" charset="0"/>
                <a:ea typeface="Arial" pitchFamily="34" charset="-122"/>
                <a:cs typeface="Arial" pitchFamily="34" charset="-120"/>
              </a:rPr>
              <a:t>en equipo</a:t>
            </a:r>
            <a:endParaRPr lang="en-US" sz="1100" dirty="0"/>
          </a:p>
        </p:txBody>
      </p:sp>
      <p:sp>
        <p:nvSpPr>
          <p:cNvPr id="27" name="Text 23"/>
          <p:cNvSpPr/>
          <p:nvPr/>
        </p:nvSpPr>
        <p:spPr>
          <a:xfrm>
            <a:off x="7772400" y="2834640"/>
            <a:ext cx="1143000" cy="274320"/>
          </a:xfrm>
          <a:prstGeom prst="rect">
            <a:avLst/>
          </a:prstGeom>
          <a:noFill/>
          <a:ln/>
        </p:spPr>
        <p:txBody>
          <a:bodyPr wrap="square" lIns="0" tIns="0" rIns="0" bIns="0" rtlCol="0" anchor="ctr"/>
          <a:lstStyle/>
          <a:p>
            <a:pPr algn="ctr" indent="0" marL="0">
              <a:buNone/>
            </a:pPr>
            <a:r>
              <a:rPr lang="en-US" sz="1000" b="1" dirty="0">
                <a:solidFill>
                  <a:srgbClr val="E07A5F"/>
                </a:solidFill>
                <a:latin typeface="Arial" pitchFamily="34" charset="0"/>
                <a:ea typeface="Arial" pitchFamily="34" charset="-122"/>
                <a:cs typeface="Arial" pitchFamily="34" charset="-120"/>
              </a:rPr>
              <a:t>Próximo</a:t>
            </a:r>
            <a:endParaRPr lang="en-US" sz="1000" dirty="0"/>
          </a:p>
        </p:txBody>
      </p:sp>
      <p:sp>
        <p:nvSpPr>
          <p:cNvPr id="28" name="Text 24"/>
          <p:cNvSpPr/>
          <p:nvPr/>
        </p:nvSpPr>
        <p:spPr>
          <a:xfrm>
            <a:off x="457200" y="3657600"/>
            <a:ext cx="8229600" cy="548640"/>
          </a:xfrm>
          <a:prstGeom prst="rect">
            <a:avLst/>
          </a:prstGeom>
          <a:noFill/>
          <a:ln/>
        </p:spPr>
        <p:txBody>
          <a:bodyPr wrap="square" lIns="0" tIns="0" rIns="0" bIns="0" rtlCol="0" anchor="ctr"/>
          <a:lstStyle/>
          <a:p>
            <a:pPr indent="0" marL="0">
              <a:buNone/>
            </a:pPr>
            <a:r>
              <a:rPr lang="en-US" sz="1200" dirty="0">
                <a:solidFill>
                  <a:srgbClr val="3D405B"/>
                </a:solidFill>
                <a:latin typeface="Arial" pitchFamily="34" charset="0"/>
                <a:ea typeface="Arial" pitchFamily="34" charset="-122"/>
                <a:cs typeface="Arial" pitchFamily="34" charset="-120"/>
              </a:rPr>
              <a:t>Los temas en verde ya se trabajaron. Empatía (octubre) se está realizando actualmente. Trabajo en equipo es el próximo taller.</a:t>
            </a:r>
            <a:endParaRPr lang="en-US" sz="1200" dirty="0"/>
          </a:p>
        </p:txBody>
      </p:sp>
      <p:sp>
        <p:nvSpPr>
          <p:cNvPr id="29" name="Text 25"/>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30" name="Text 26"/>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3 /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Text 0"/>
          <p:cNvSpPr/>
          <p:nvPr/>
        </p:nvSpPr>
        <p:spPr>
          <a:xfrm>
            <a:off x="777240" y="502920"/>
            <a:ext cx="7589520" cy="457200"/>
          </a:xfrm>
          <a:prstGeom prst="rect">
            <a:avLst/>
          </a:prstGeom>
          <a:noFill/>
          <a:ln/>
        </p:spPr>
        <p:txBody>
          <a:bodyPr wrap="square" lIns="0" tIns="0" rIns="0" bIns="0" rtlCol="0" anchor="ctr"/>
          <a:lstStyle/>
          <a:p>
            <a:pPr indent="0" marL="0">
              <a:buNone/>
            </a:pPr>
            <a:r>
              <a:rPr lang="en-US" sz="2800" b="1" dirty="0">
                <a:solidFill>
                  <a:srgbClr val="2D2A32"/>
                </a:solidFill>
                <a:latin typeface="Arial" pitchFamily="34" charset="0"/>
                <a:ea typeface="Arial" pitchFamily="34" charset="-122"/>
                <a:cs typeface="Arial" pitchFamily="34" charset="-120"/>
              </a:rPr>
              <a:t>Convivir y cuidarse</a:t>
            </a:r>
            <a:endParaRPr lang="en-US" sz="2800" dirty="0"/>
          </a:p>
        </p:txBody>
      </p:sp>
      <p:sp>
        <p:nvSpPr>
          <p:cNvPr id="5" name="Shape 1"/>
          <p:cNvSpPr/>
          <p:nvPr/>
        </p:nvSpPr>
        <p:spPr>
          <a:xfrm>
            <a:off x="365760" y="1005840"/>
            <a:ext cx="4114800" cy="3291840"/>
          </a:xfrm>
          <a:prstGeom prst="roundRect">
            <a:avLst>
              <a:gd name="adj" fmla="val 4167"/>
            </a:avLst>
          </a:prstGeom>
          <a:solidFill>
            <a:srgbClr val="E8F4EF"/>
          </a:solidFill>
          <a:ln/>
        </p:spPr>
      </p:sp>
      <p:sp>
        <p:nvSpPr>
          <p:cNvPr id="6" name="Text 2"/>
          <p:cNvSpPr/>
          <p:nvPr/>
        </p:nvSpPr>
        <p:spPr>
          <a:xfrm>
            <a:off x="548640" y="1143000"/>
            <a:ext cx="3749040" cy="36576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Convivencia y respeto</a:t>
            </a:r>
            <a:endParaRPr lang="en-US" sz="1600" dirty="0"/>
          </a:p>
        </p:txBody>
      </p:sp>
      <p:sp>
        <p:nvSpPr>
          <p:cNvPr id="7" name="Text 3"/>
          <p:cNvSpPr/>
          <p:nvPr/>
        </p:nvSpPr>
        <p:spPr>
          <a:xfrm>
            <a:off x="548640" y="1600200"/>
            <a:ext cx="3749040" cy="82296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Usar normas básicas de cortesía</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y tratar a otros con amabilidad.</a:t>
            </a:r>
            <a:endParaRPr lang="en-US" sz="1400" dirty="0"/>
          </a:p>
        </p:txBody>
      </p:sp>
      <p:sp>
        <p:nvSpPr>
          <p:cNvPr id="8" name="Text 4"/>
          <p:cNvSpPr/>
          <p:nvPr/>
        </p:nvSpPr>
        <p:spPr>
          <a:xfrm>
            <a:off x="548640" y="2468880"/>
            <a:ext cx="3749040" cy="1097280"/>
          </a:xfrm>
          <a:prstGeom prst="rect">
            <a:avLst/>
          </a:prstGeom>
          <a:noFill/>
          <a:ln/>
        </p:spPr>
        <p:txBody>
          <a:bodyPr wrap="square" lIns="0" tIns="0" rIns="0" bIns="0" rtlCol="0" anchor="ctr"/>
          <a:lstStyle/>
          <a:p>
            <a:pPr indent="0" marL="0">
              <a:buNone/>
            </a:pPr>
            <a:r>
              <a:rPr lang="en-US" sz="1400" dirty="0">
                <a:solidFill>
                  <a:srgbClr val="2D2A32"/>
                </a:solidFill>
                <a:latin typeface="Arial" pitchFamily="34" charset="0"/>
                <a:ea typeface="Arial" pitchFamily="34" charset="-122"/>
                <a:cs typeface="Arial" pitchFamily="34" charset="-120"/>
              </a:rPr>
              <a:t>Saludar, pedir por favor,</a:t>
            </a:r>
            <a:endParaRPr lang="en-US" sz="1400" dirty="0"/>
          </a:p>
          <a:p>
            <a:pPr indent="0" marL="0">
              <a:buNone/>
            </a:pPr>
            <a:r>
              <a:rPr lang="en-US" sz="1400" dirty="0">
                <a:solidFill>
                  <a:srgbClr val="2D2A32"/>
                </a:solidFill>
                <a:latin typeface="Arial" pitchFamily="34" charset="0"/>
                <a:ea typeface="Arial" pitchFamily="34" charset="-122"/>
                <a:cs typeface="Arial" pitchFamily="34" charset="-120"/>
              </a:rPr>
              <a:t>dar las gracias, escuchar</a:t>
            </a:r>
            <a:endParaRPr lang="en-US" sz="1400" dirty="0"/>
          </a:p>
          <a:p>
            <a:pPr indent="0" marL="0">
              <a:buNone/>
            </a:pPr>
            <a:r>
              <a:rPr lang="en-US" sz="1400" dirty="0">
                <a:solidFill>
                  <a:srgbClr val="2D2A32"/>
                </a:solidFill>
                <a:latin typeface="Arial" pitchFamily="34" charset="0"/>
                <a:ea typeface="Arial" pitchFamily="34" charset="-122"/>
                <a:cs typeface="Arial" pitchFamily="34" charset="-120"/>
              </a:rPr>
              <a:t>al compañero.</a:t>
            </a:r>
            <a:endParaRPr lang="en-US" sz="1400" dirty="0"/>
          </a:p>
        </p:txBody>
      </p:sp>
      <p:sp>
        <p:nvSpPr>
          <p:cNvPr id="9" name="Shape 5"/>
          <p:cNvSpPr/>
          <p:nvPr/>
        </p:nvSpPr>
        <p:spPr>
          <a:xfrm>
            <a:off x="4663440" y="1005840"/>
            <a:ext cx="4114800" cy="3291840"/>
          </a:xfrm>
          <a:prstGeom prst="roundRect">
            <a:avLst>
              <a:gd name="adj" fmla="val 4167"/>
            </a:avLst>
          </a:prstGeom>
          <a:solidFill>
            <a:srgbClr val="F8E6E6"/>
          </a:solidFill>
          <a:ln/>
        </p:spPr>
      </p:sp>
      <p:sp>
        <p:nvSpPr>
          <p:cNvPr id="10" name="Text 6"/>
          <p:cNvSpPr/>
          <p:nvPr/>
        </p:nvSpPr>
        <p:spPr>
          <a:xfrm>
            <a:off x="4846320" y="1143000"/>
            <a:ext cx="3749040" cy="36576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Autocuidado y protección</a:t>
            </a:r>
            <a:endParaRPr lang="en-US" sz="1600" dirty="0"/>
          </a:p>
        </p:txBody>
      </p:sp>
      <p:sp>
        <p:nvSpPr>
          <p:cNvPr id="11" name="Text 7"/>
          <p:cNvSpPr/>
          <p:nvPr/>
        </p:nvSpPr>
        <p:spPr>
          <a:xfrm>
            <a:off x="4846320" y="1600200"/>
            <a:ext cx="3749040" cy="109728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Establecer límites corporales,</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reconocer situaciones de riesgo</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y pedir ayuda.</a:t>
            </a:r>
            <a:endParaRPr lang="en-US" sz="1400" dirty="0"/>
          </a:p>
        </p:txBody>
      </p:sp>
      <p:sp>
        <p:nvSpPr>
          <p:cNvPr id="12" name="Text 8"/>
          <p:cNvSpPr/>
          <p:nvPr/>
        </p:nvSpPr>
        <p:spPr>
          <a:xfrm>
            <a:off x="4846320" y="2743200"/>
            <a:ext cx="3749040" cy="1280160"/>
          </a:xfrm>
          <a:prstGeom prst="rect">
            <a:avLst/>
          </a:prstGeom>
          <a:noFill/>
          <a:ln/>
        </p:spPr>
        <p:txBody>
          <a:bodyPr wrap="square" lIns="0" tIns="0" rIns="0" bIns="0" rtlCol="0" anchor="ctr"/>
          <a:lstStyle/>
          <a:p>
            <a:pPr indent="0" marL="0">
              <a:buNone/>
            </a:pPr>
            <a:r>
              <a:rPr lang="en-US" sz="1400" dirty="0">
                <a:solidFill>
                  <a:srgbClr val="2D2A32"/>
                </a:solidFill>
                <a:latin typeface="Arial" pitchFamily="34" charset="0"/>
                <a:ea typeface="Arial" pitchFamily="34" charset="-122"/>
                <a:cs typeface="Arial" pitchFamily="34" charset="-120"/>
              </a:rPr>
              <a:t>Mi cuerpo es mío.</a:t>
            </a:r>
            <a:endParaRPr lang="en-US" sz="1400" dirty="0"/>
          </a:p>
          <a:p>
            <a:pPr indent="0" marL="0">
              <a:buNone/>
            </a:pPr>
            <a:r>
              <a:rPr lang="en-US" sz="1400" dirty="0">
                <a:solidFill>
                  <a:srgbClr val="2D2A32"/>
                </a:solidFill>
                <a:latin typeface="Arial" pitchFamily="34" charset="0"/>
                <a:ea typeface="Arial" pitchFamily="34" charset="-122"/>
                <a:cs typeface="Arial" pitchFamily="34" charset="-120"/>
              </a:rPr>
              <a:t>Puedo decir «no».</a:t>
            </a:r>
            <a:endParaRPr lang="en-US" sz="1400" dirty="0"/>
          </a:p>
          <a:p>
            <a:pPr indent="0" marL="0">
              <a:buNone/>
            </a:pPr>
            <a:r>
              <a:rPr lang="en-US" sz="1400" dirty="0">
                <a:solidFill>
                  <a:srgbClr val="2D2A32"/>
                </a:solidFill>
                <a:latin typeface="Arial" pitchFamily="34" charset="0"/>
                <a:ea typeface="Arial" pitchFamily="34" charset="-122"/>
                <a:cs typeface="Arial" pitchFamily="34" charset="-120"/>
              </a:rPr>
              <a:t>Si algo me incomoda,</a:t>
            </a:r>
            <a:endParaRPr lang="en-US" sz="1400" dirty="0"/>
          </a:p>
          <a:p>
            <a:pPr indent="0" marL="0">
              <a:buNone/>
            </a:pPr>
            <a:r>
              <a:rPr lang="en-US" sz="1400" dirty="0">
                <a:solidFill>
                  <a:srgbClr val="2D2A32"/>
                </a:solidFill>
                <a:latin typeface="Arial" pitchFamily="34" charset="0"/>
                <a:ea typeface="Arial" pitchFamily="34" charset="-122"/>
                <a:cs typeface="Arial" pitchFamily="34" charset="-120"/>
              </a:rPr>
              <a:t>se lo cuento a un adulto</a:t>
            </a:r>
            <a:endParaRPr lang="en-US" sz="1400" dirty="0"/>
          </a:p>
          <a:p>
            <a:pPr indent="0" marL="0">
              <a:buNone/>
            </a:pPr>
            <a:r>
              <a:rPr lang="en-US" sz="1400" dirty="0">
                <a:solidFill>
                  <a:srgbClr val="2D2A32"/>
                </a:solidFill>
                <a:latin typeface="Arial" pitchFamily="34" charset="0"/>
                <a:ea typeface="Arial" pitchFamily="34" charset="-122"/>
                <a:cs typeface="Arial" pitchFamily="34" charset="-120"/>
              </a:rPr>
              <a:t>de confianza.</a:t>
            </a:r>
            <a:endParaRPr lang="en-US" sz="1400" dirty="0"/>
          </a:p>
        </p:txBody>
      </p:sp>
      <p:sp>
        <p:nvSpPr>
          <p:cNvPr id="13" name="Text 9"/>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4" name="Text 10"/>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4 / 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Text 0"/>
          <p:cNvSpPr/>
          <p:nvPr/>
        </p:nvSpPr>
        <p:spPr>
          <a:xfrm>
            <a:off x="777240" y="502920"/>
            <a:ext cx="7589520" cy="457200"/>
          </a:xfrm>
          <a:prstGeom prst="rect">
            <a:avLst/>
          </a:prstGeom>
          <a:noFill/>
          <a:ln/>
        </p:spPr>
        <p:txBody>
          <a:bodyPr wrap="square" lIns="0" tIns="0" rIns="0" bIns="0" rtlCol="0" anchor="ctr"/>
          <a:lstStyle/>
          <a:p>
            <a:pPr indent="0" marL="0">
              <a:buNone/>
            </a:pPr>
            <a:r>
              <a:rPr lang="en-US" sz="2600" b="1" dirty="0">
                <a:solidFill>
                  <a:srgbClr val="2D2A32"/>
                </a:solidFill>
                <a:latin typeface="Arial" pitchFamily="34" charset="0"/>
                <a:ea typeface="Arial" pitchFamily="34" charset="-122"/>
                <a:cs typeface="Arial" pitchFamily="34" charset="-120"/>
              </a:rPr>
              <a:t>Qué hacer con emociones intensas</a:t>
            </a:r>
            <a:endParaRPr lang="en-US" sz="2600" dirty="0"/>
          </a:p>
        </p:txBody>
      </p:sp>
      <p:sp>
        <p:nvSpPr>
          <p:cNvPr id="5" name="Shape 1"/>
          <p:cNvSpPr/>
          <p:nvPr/>
        </p:nvSpPr>
        <p:spPr>
          <a:xfrm>
            <a:off x="365760" y="1005840"/>
            <a:ext cx="4114800" cy="3200400"/>
          </a:xfrm>
          <a:prstGeom prst="roundRect">
            <a:avLst>
              <a:gd name="adj" fmla="val 4286"/>
            </a:avLst>
          </a:prstGeom>
          <a:solidFill>
            <a:srgbClr val="F2CC8F"/>
          </a:solidFill>
          <a:ln/>
        </p:spPr>
      </p:sp>
      <p:sp>
        <p:nvSpPr>
          <p:cNvPr id="6" name="Text 2"/>
          <p:cNvSpPr/>
          <p:nvPr/>
        </p:nvSpPr>
        <p:spPr>
          <a:xfrm>
            <a:off x="548640" y="1143000"/>
            <a:ext cx="3749040" cy="64008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Frustración y control</a:t>
            </a:r>
            <a:endParaRPr lang="en-US" sz="1600" dirty="0"/>
          </a:p>
          <a:p>
            <a:pPr indent="0" marL="0">
              <a:buNone/>
            </a:pPr>
            <a:r>
              <a:rPr lang="en-US" sz="1600" b="1" dirty="0">
                <a:solidFill>
                  <a:srgbClr val="2D2A32"/>
                </a:solidFill>
                <a:latin typeface="Arial" pitchFamily="34" charset="0"/>
                <a:ea typeface="Arial" pitchFamily="34" charset="-122"/>
                <a:cs typeface="Arial" pitchFamily="34" charset="-120"/>
              </a:rPr>
              <a:t>de impulsos</a:t>
            </a:r>
            <a:endParaRPr lang="en-US" sz="1600" dirty="0"/>
          </a:p>
        </p:txBody>
      </p:sp>
      <p:sp>
        <p:nvSpPr>
          <p:cNvPr id="7" name="Text 3"/>
          <p:cNvSpPr/>
          <p:nvPr/>
        </p:nvSpPr>
        <p:spPr>
          <a:xfrm>
            <a:off x="548640" y="1874520"/>
            <a:ext cx="3749040" cy="64008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Aprender a esperar turnos</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y pensar antes de actuar.</a:t>
            </a:r>
            <a:endParaRPr lang="en-US" sz="1400" dirty="0"/>
          </a:p>
        </p:txBody>
      </p:sp>
      <p:sp>
        <p:nvSpPr>
          <p:cNvPr id="8" name="Text 4"/>
          <p:cNvSpPr/>
          <p:nvPr/>
        </p:nvSpPr>
        <p:spPr>
          <a:xfrm>
            <a:off x="548640" y="2606040"/>
            <a:ext cx="3749040" cy="1280160"/>
          </a:xfrm>
          <a:prstGeom prst="rect">
            <a:avLst/>
          </a:prstGeom>
          <a:noFill/>
          <a:ln/>
        </p:spPr>
        <p:txBody>
          <a:bodyPr wrap="square" lIns="0" tIns="0" rIns="0" bIns="0" rtlCol="0" anchor="ctr"/>
          <a:lstStyle/>
          <a:p>
            <a:pPr indent="0" marL="0">
              <a:buNone/>
            </a:pPr>
            <a:r>
              <a:rPr lang="en-US" sz="1300" dirty="0">
                <a:solidFill>
                  <a:srgbClr val="2D2A32"/>
                </a:solidFill>
                <a:latin typeface="Arial" pitchFamily="34" charset="0"/>
                <a:ea typeface="Arial" pitchFamily="34" charset="-122"/>
                <a:cs typeface="Arial" pitchFamily="34" charset="-120"/>
              </a:rPr>
              <a:t>Ejemplo en casa (sugerencia):</a:t>
            </a:r>
            <a:endParaRPr lang="en-US" sz="1300" dirty="0"/>
          </a:p>
          <a:p>
            <a:pPr indent="0" marL="0">
              <a:buNone/>
            </a:pPr>
            <a:r>
              <a:rPr lang="en-US" sz="1300" dirty="0">
                <a:solidFill>
                  <a:srgbClr val="2D2A32"/>
                </a:solidFill>
                <a:latin typeface="Arial" pitchFamily="34" charset="0"/>
                <a:ea typeface="Arial" pitchFamily="34" charset="-122"/>
                <a:cs typeface="Arial" pitchFamily="34" charset="-120"/>
              </a:rPr>
              <a:t>cuando quieren el mismo juguete,</a:t>
            </a:r>
            <a:endParaRPr lang="en-US" sz="1300" dirty="0"/>
          </a:p>
          <a:p>
            <a:pPr indent="0" marL="0">
              <a:buNone/>
            </a:pPr>
            <a:r>
              <a:rPr lang="en-US" sz="1300" dirty="0">
                <a:solidFill>
                  <a:srgbClr val="2D2A32"/>
                </a:solidFill>
                <a:latin typeface="Arial" pitchFamily="34" charset="0"/>
                <a:ea typeface="Arial" pitchFamily="34" charset="-122"/>
                <a:cs typeface="Arial" pitchFamily="34" charset="-120"/>
              </a:rPr>
              <a:t>practicar «espera un momento»</a:t>
            </a:r>
            <a:endParaRPr lang="en-US" sz="1300" dirty="0"/>
          </a:p>
          <a:p>
            <a:pPr indent="0" marL="0">
              <a:buNone/>
            </a:pPr>
            <a:r>
              <a:rPr lang="en-US" sz="1300" dirty="0">
                <a:solidFill>
                  <a:srgbClr val="2D2A32"/>
                </a:solidFill>
                <a:latin typeface="Arial" pitchFamily="34" charset="0"/>
                <a:ea typeface="Arial" pitchFamily="34" charset="-122"/>
                <a:cs typeface="Arial" pitchFamily="34" charset="-120"/>
              </a:rPr>
              <a:t>y luego compartir.</a:t>
            </a:r>
            <a:endParaRPr lang="en-US" sz="1300" dirty="0"/>
          </a:p>
        </p:txBody>
      </p:sp>
      <p:sp>
        <p:nvSpPr>
          <p:cNvPr id="9" name="Shape 5"/>
          <p:cNvSpPr/>
          <p:nvPr/>
        </p:nvSpPr>
        <p:spPr>
          <a:xfrm>
            <a:off x="4663440" y="1005840"/>
            <a:ext cx="4114800" cy="3200400"/>
          </a:xfrm>
          <a:prstGeom prst="roundRect">
            <a:avLst>
              <a:gd name="adj" fmla="val 4286"/>
            </a:avLst>
          </a:prstGeom>
          <a:solidFill>
            <a:srgbClr val="E8F4EF"/>
          </a:solidFill>
          <a:ln/>
        </p:spPr>
      </p:sp>
      <p:sp>
        <p:nvSpPr>
          <p:cNvPr id="10" name="Text 6"/>
          <p:cNvSpPr/>
          <p:nvPr/>
        </p:nvSpPr>
        <p:spPr>
          <a:xfrm>
            <a:off x="4846320" y="1143000"/>
            <a:ext cx="3749040" cy="41148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Encuentro la calma</a:t>
            </a:r>
            <a:endParaRPr lang="en-US" sz="1600" dirty="0"/>
          </a:p>
        </p:txBody>
      </p:sp>
      <p:sp>
        <p:nvSpPr>
          <p:cNvPr id="11" name="Text 7"/>
          <p:cNvSpPr/>
          <p:nvPr/>
        </p:nvSpPr>
        <p:spPr>
          <a:xfrm>
            <a:off x="4846320" y="1645920"/>
            <a:ext cx="3749040" cy="100584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Identificar cómo se siente la calma</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en el cuerpo y usar estrategias</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sencillas para autorregularse.</a:t>
            </a:r>
            <a:endParaRPr lang="en-US" sz="1400" dirty="0"/>
          </a:p>
        </p:txBody>
      </p:sp>
      <p:sp>
        <p:nvSpPr>
          <p:cNvPr id="12" name="Text 8"/>
          <p:cNvSpPr/>
          <p:nvPr/>
        </p:nvSpPr>
        <p:spPr>
          <a:xfrm>
            <a:off x="4846320" y="2743200"/>
            <a:ext cx="3749040" cy="1097280"/>
          </a:xfrm>
          <a:prstGeom prst="rect">
            <a:avLst/>
          </a:prstGeom>
          <a:noFill/>
          <a:ln/>
        </p:spPr>
        <p:txBody>
          <a:bodyPr wrap="square" lIns="0" tIns="0" rIns="0" bIns="0" rtlCol="0" anchor="ctr"/>
          <a:lstStyle/>
          <a:p>
            <a:pPr indent="0" marL="0">
              <a:buNone/>
            </a:pPr>
            <a:r>
              <a:rPr lang="en-US" sz="1300" dirty="0">
                <a:solidFill>
                  <a:srgbClr val="2D2A32"/>
                </a:solidFill>
                <a:latin typeface="Arial" pitchFamily="34" charset="0"/>
                <a:ea typeface="Arial" pitchFamily="34" charset="-122"/>
                <a:cs typeface="Arial" pitchFamily="34" charset="-120"/>
              </a:rPr>
              <a:t>Ejemplo en casa (sugerencia):</a:t>
            </a:r>
            <a:endParaRPr lang="en-US" sz="1300" dirty="0"/>
          </a:p>
          <a:p>
            <a:pPr indent="0" marL="0">
              <a:buNone/>
            </a:pPr>
            <a:r>
              <a:rPr lang="en-US" sz="1300" dirty="0">
                <a:solidFill>
                  <a:srgbClr val="2D2A32"/>
                </a:solidFill>
                <a:latin typeface="Arial" pitchFamily="34" charset="0"/>
                <a:ea typeface="Arial" pitchFamily="34" charset="-122"/>
                <a:cs typeface="Arial" pitchFamily="34" charset="-120"/>
              </a:rPr>
              <a:t>respirar juntos despacio</a:t>
            </a:r>
            <a:endParaRPr lang="en-US" sz="1300" dirty="0"/>
          </a:p>
          <a:p>
            <a:pPr indent="0" marL="0">
              <a:buNone/>
            </a:pPr>
            <a:r>
              <a:rPr lang="en-US" sz="1300" dirty="0">
                <a:solidFill>
                  <a:srgbClr val="2D2A32"/>
                </a:solidFill>
                <a:latin typeface="Arial" pitchFamily="34" charset="0"/>
                <a:ea typeface="Arial" pitchFamily="34" charset="-122"/>
                <a:cs typeface="Arial" pitchFamily="34" charset="-120"/>
              </a:rPr>
              <a:t>cuando algo se pone intenso.</a:t>
            </a:r>
            <a:endParaRPr lang="en-US" sz="1300" dirty="0"/>
          </a:p>
        </p:txBody>
      </p:sp>
      <p:sp>
        <p:nvSpPr>
          <p:cNvPr id="13" name="Text 9"/>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4" name="Text 10"/>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5 / 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Text 0"/>
          <p:cNvSpPr/>
          <p:nvPr/>
        </p:nvSpPr>
        <p:spPr>
          <a:xfrm>
            <a:off x="777240" y="457200"/>
            <a:ext cx="7589520" cy="640080"/>
          </a:xfrm>
          <a:prstGeom prst="rect">
            <a:avLst/>
          </a:prstGeom>
          <a:noFill/>
          <a:ln/>
        </p:spPr>
        <p:txBody>
          <a:bodyPr wrap="square" lIns="0" tIns="0" rIns="0" bIns="0" rtlCol="0" anchor="ctr"/>
          <a:lstStyle/>
          <a:p>
            <a:pPr indent="0" marL="0">
              <a:buNone/>
            </a:pPr>
            <a:r>
              <a:rPr lang="en-US" sz="2400" b="1" dirty="0">
                <a:solidFill>
                  <a:srgbClr val="2D2A32"/>
                </a:solidFill>
                <a:latin typeface="Arial" pitchFamily="34" charset="0"/>
                <a:ea typeface="Arial" pitchFamily="34" charset="-122"/>
                <a:cs typeface="Arial" pitchFamily="34" charset="-120"/>
              </a:rPr>
              <a:t>Reconocer lo valioso en uno mismo</a:t>
            </a:r>
            <a:endParaRPr lang="en-US" sz="2400" dirty="0"/>
          </a:p>
          <a:p>
            <a:pPr indent="0" marL="0">
              <a:buNone/>
            </a:pPr>
            <a:r>
              <a:rPr lang="en-US" sz="2400" b="1" dirty="0">
                <a:solidFill>
                  <a:srgbClr val="2D2A32"/>
                </a:solidFill>
                <a:latin typeface="Arial" pitchFamily="34" charset="0"/>
                <a:ea typeface="Arial" pitchFamily="34" charset="-122"/>
                <a:cs typeface="Arial" pitchFamily="34" charset="-120"/>
              </a:rPr>
              <a:t>y en los demás</a:t>
            </a:r>
            <a:endParaRPr lang="en-US" sz="2400" dirty="0"/>
          </a:p>
        </p:txBody>
      </p:sp>
      <p:sp>
        <p:nvSpPr>
          <p:cNvPr id="5" name="Shape 1"/>
          <p:cNvSpPr/>
          <p:nvPr/>
        </p:nvSpPr>
        <p:spPr>
          <a:xfrm>
            <a:off x="365760" y="1097280"/>
            <a:ext cx="5029200" cy="3200400"/>
          </a:xfrm>
          <a:prstGeom prst="roundRect">
            <a:avLst>
              <a:gd name="adj" fmla="val 4286"/>
            </a:avLst>
          </a:prstGeom>
          <a:solidFill>
            <a:srgbClr val="F8E6E6"/>
          </a:solidFill>
          <a:ln/>
        </p:spPr>
      </p:sp>
      <p:sp>
        <p:nvSpPr>
          <p:cNvPr id="6" name="Text 2"/>
          <p:cNvSpPr/>
          <p:nvPr/>
        </p:nvSpPr>
        <p:spPr>
          <a:xfrm>
            <a:off x="548640" y="1234440"/>
            <a:ext cx="4663440" cy="32004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Autoestima</a:t>
            </a:r>
            <a:endParaRPr lang="en-US" sz="1600" dirty="0"/>
          </a:p>
        </p:txBody>
      </p:sp>
      <p:sp>
        <p:nvSpPr>
          <p:cNvPr id="7" name="Text 3"/>
          <p:cNvSpPr/>
          <p:nvPr/>
        </p:nvSpPr>
        <p:spPr>
          <a:xfrm>
            <a:off x="548640" y="1600200"/>
            <a:ext cx="4663440" cy="548640"/>
          </a:xfrm>
          <a:prstGeom prst="rect">
            <a:avLst/>
          </a:prstGeom>
          <a:noFill/>
          <a:ln/>
        </p:spPr>
        <p:txBody>
          <a:bodyPr wrap="square" lIns="0" tIns="0" rIns="0" bIns="0" rtlCol="0" anchor="ctr"/>
          <a:lstStyle/>
          <a:p>
            <a:pPr indent="0" marL="0">
              <a:buNone/>
            </a:pPr>
            <a:r>
              <a:rPr lang="en-US" sz="1300" dirty="0">
                <a:solidFill>
                  <a:srgbClr val="3D405B"/>
                </a:solidFill>
                <a:latin typeface="Arial" pitchFamily="34" charset="0"/>
                <a:ea typeface="Arial" pitchFamily="34" charset="-122"/>
                <a:cs typeface="Arial" pitchFamily="34" charset="-120"/>
              </a:rPr>
              <a:t>Reconocer cualidades personales</a:t>
            </a:r>
            <a:endParaRPr lang="en-US" sz="1300" dirty="0"/>
          </a:p>
          <a:p>
            <a:pPr indent="0" marL="0">
              <a:buNone/>
            </a:pPr>
            <a:r>
              <a:rPr lang="en-US" sz="1300" dirty="0">
                <a:solidFill>
                  <a:srgbClr val="3D405B"/>
                </a:solidFill>
                <a:latin typeface="Arial" pitchFamily="34" charset="0"/>
                <a:ea typeface="Arial" pitchFamily="34" charset="-122"/>
                <a:cs typeface="Arial" pitchFamily="34" charset="-120"/>
              </a:rPr>
              <a:t>y valorarse como alguien único.</a:t>
            </a:r>
            <a:endParaRPr lang="en-US" sz="1300" dirty="0"/>
          </a:p>
        </p:txBody>
      </p:sp>
      <p:sp>
        <p:nvSpPr>
          <p:cNvPr id="8" name="Text 4"/>
          <p:cNvSpPr/>
          <p:nvPr/>
        </p:nvSpPr>
        <p:spPr>
          <a:xfrm>
            <a:off x="548640" y="2240280"/>
            <a:ext cx="4663440" cy="1828800"/>
          </a:xfrm>
          <a:prstGeom prst="rect">
            <a:avLst/>
          </a:prstGeom>
          <a:noFill/>
          <a:ln/>
        </p:spPr>
        <p:txBody>
          <a:bodyPr wrap="square" lIns="0" tIns="0" rIns="0" bIns="0" rtlCol="0" anchor="ctr"/>
          <a:lstStyle/>
          <a:p>
            <a:pPr indent="0" marL="0">
              <a:buNone/>
            </a:pPr>
            <a:r>
              <a:rPr lang="en-US" sz="1200" dirty="0">
                <a:solidFill>
                  <a:srgbClr val="2D2A32"/>
                </a:solidFill>
                <a:latin typeface="Arial" pitchFamily="34" charset="0"/>
                <a:ea typeface="Arial" pitchFamily="34" charset="-122"/>
                <a:cs typeface="Arial" pitchFamily="34" charset="-120"/>
              </a:rPr>
              <a:t>En la sesión «Yo puedo», los niños</a:t>
            </a:r>
            <a:endParaRPr lang="en-US" sz="1200" dirty="0"/>
          </a:p>
          <a:p>
            <a:pPr indent="0" marL="0">
              <a:buNone/>
            </a:pPr>
            <a:r>
              <a:rPr lang="en-US" sz="1200" dirty="0">
                <a:solidFill>
                  <a:srgbClr val="2D2A32"/>
                </a:solidFill>
                <a:latin typeface="Arial" pitchFamily="34" charset="0"/>
                <a:ea typeface="Arial" pitchFamily="34" charset="-122"/>
                <a:cs typeface="Arial" pitchFamily="34" charset="-120"/>
              </a:rPr>
              <a:t>identificaron con tarjetas acciones</a:t>
            </a:r>
            <a:endParaRPr lang="en-US" sz="1200" dirty="0"/>
          </a:p>
          <a:p>
            <a:pPr indent="0" marL="0">
              <a:buNone/>
            </a:pPr>
            <a:r>
              <a:rPr lang="en-US" sz="1200" dirty="0">
                <a:solidFill>
                  <a:srgbClr val="2D2A32"/>
                </a:solidFill>
                <a:latin typeface="Arial" pitchFamily="34" charset="0"/>
                <a:ea typeface="Arial" pitchFamily="34" charset="-122"/>
                <a:cs typeface="Arial" pitchFamily="34" charset="-120"/>
              </a:rPr>
              <a:t>que ya logran hacer por sí mismos.</a:t>
            </a:r>
            <a:endParaRPr lang="en-US" sz="1200" dirty="0"/>
          </a:p>
          <a:p>
            <a:pPr indent="0" marL="0">
              <a:buNone/>
            </a:pPr>
            <a:r>
              <a:rPr lang="en-US" sz="1200" dirty="0">
                <a:solidFill>
                  <a:srgbClr val="2D2A32"/>
                </a:solidFill>
                <a:latin typeface="Arial" pitchFamily="34" charset="0"/>
                <a:ea typeface="Arial" pitchFamily="34" charset="-122"/>
                <a:cs typeface="Arial" pitchFamily="34" charset="-120"/>
              </a:rPr>
              <a:t>Conversaron sobre cómo aprendieron,</a:t>
            </a:r>
            <a:endParaRPr lang="en-US" sz="1200" dirty="0"/>
          </a:p>
          <a:p>
            <a:pPr indent="0" marL="0">
              <a:buNone/>
            </a:pPr>
            <a:r>
              <a:rPr lang="en-US" sz="1200" dirty="0">
                <a:solidFill>
                  <a:srgbClr val="2D2A32"/>
                </a:solidFill>
                <a:latin typeface="Arial" pitchFamily="34" charset="0"/>
                <a:ea typeface="Arial" pitchFamily="34" charset="-122"/>
                <a:cs typeface="Arial" pitchFamily="34" charset="-120"/>
              </a:rPr>
              <a:t>quién los ayudó y cómo se sienten.</a:t>
            </a:r>
            <a:endParaRPr lang="en-US" sz="1200" dirty="0"/>
          </a:p>
          <a:p>
            <a:pPr indent="0" marL="0">
              <a:buNone/>
            </a:pPr>
            <a:r>
              <a:rPr lang="en-US" sz="1200" dirty="0">
                <a:solidFill>
                  <a:srgbClr val="2D2A32"/>
                </a:solidFill>
                <a:latin typeface="Arial" pitchFamily="34" charset="0"/>
                <a:ea typeface="Arial" pitchFamily="34" charset="-122"/>
                <a:cs typeface="Arial" pitchFamily="34" charset="-120"/>
              </a:rPr>
              <a:t>El cierre destacó que cada uno</a:t>
            </a:r>
            <a:endParaRPr lang="en-US" sz="1200" dirty="0"/>
          </a:p>
          <a:p>
            <a:pPr indent="0" marL="0">
              <a:buNone/>
            </a:pPr>
            <a:r>
              <a:rPr lang="en-US" sz="1200" dirty="0">
                <a:solidFill>
                  <a:srgbClr val="2D2A32"/>
                </a:solidFill>
                <a:latin typeface="Arial" pitchFamily="34" charset="0"/>
                <a:ea typeface="Arial" pitchFamily="34" charset="-122"/>
                <a:cs typeface="Arial" pitchFamily="34" charset="-120"/>
              </a:rPr>
              <a:t>aprende a su ritmo y que todos</a:t>
            </a:r>
            <a:endParaRPr lang="en-US" sz="1200" dirty="0"/>
          </a:p>
          <a:p>
            <a:pPr indent="0" marL="0">
              <a:buNone/>
            </a:pPr>
            <a:r>
              <a:rPr lang="en-US" sz="1200" dirty="0">
                <a:solidFill>
                  <a:srgbClr val="2D2A32"/>
                </a:solidFill>
                <a:latin typeface="Arial" pitchFamily="34" charset="0"/>
                <a:ea typeface="Arial" pitchFamily="34" charset="-122"/>
                <a:cs typeface="Arial" pitchFamily="34" charset="-120"/>
              </a:rPr>
              <a:t>tienen logros valiosos.</a:t>
            </a:r>
            <a:endParaRPr lang="en-US" sz="1200" dirty="0"/>
          </a:p>
        </p:txBody>
      </p:sp>
      <p:sp>
        <p:nvSpPr>
          <p:cNvPr id="9" name="Shape 5"/>
          <p:cNvSpPr/>
          <p:nvPr/>
        </p:nvSpPr>
        <p:spPr>
          <a:xfrm>
            <a:off x="5577840" y="1097280"/>
            <a:ext cx="3200400" cy="3200400"/>
          </a:xfrm>
          <a:prstGeom prst="roundRect">
            <a:avLst>
              <a:gd name="adj" fmla="val 4286"/>
            </a:avLst>
          </a:prstGeom>
          <a:solidFill>
            <a:srgbClr val="E8F4EF"/>
          </a:solidFill>
          <a:ln/>
        </p:spPr>
      </p:sp>
      <p:sp>
        <p:nvSpPr>
          <p:cNvPr id="10" name="Text 6"/>
          <p:cNvSpPr/>
          <p:nvPr/>
        </p:nvSpPr>
        <p:spPr>
          <a:xfrm>
            <a:off x="5760720" y="1234440"/>
            <a:ext cx="2834640" cy="320040"/>
          </a:xfrm>
          <a:prstGeom prst="rect">
            <a:avLst/>
          </a:prstGeom>
          <a:noFill/>
          <a:ln/>
        </p:spPr>
        <p:txBody>
          <a:bodyPr wrap="square" lIns="0" tIns="0" rIns="0" bIns="0" rtlCol="0" anchor="ctr"/>
          <a:lstStyle/>
          <a:p>
            <a:pPr indent="0" marL="0">
              <a:buNone/>
            </a:pPr>
            <a:r>
              <a:rPr lang="en-US" sz="1600" b="1" dirty="0">
                <a:solidFill>
                  <a:srgbClr val="2D2A32"/>
                </a:solidFill>
                <a:latin typeface="Arial" pitchFamily="34" charset="0"/>
                <a:ea typeface="Arial" pitchFamily="34" charset="-122"/>
                <a:cs typeface="Arial" pitchFamily="34" charset="-120"/>
              </a:rPr>
              <a:t>Empatía</a:t>
            </a:r>
            <a:endParaRPr lang="en-US" sz="1600" dirty="0"/>
          </a:p>
        </p:txBody>
      </p:sp>
      <p:sp>
        <p:nvSpPr>
          <p:cNvPr id="11" name="Text 7"/>
          <p:cNvSpPr/>
          <p:nvPr/>
        </p:nvSpPr>
        <p:spPr>
          <a:xfrm>
            <a:off x="5760720" y="1691640"/>
            <a:ext cx="2834640" cy="1097280"/>
          </a:xfrm>
          <a:prstGeom prst="rect">
            <a:avLst/>
          </a:prstGeom>
          <a:noFill/>
          <a:ln/>
        </p:spPr>
        <p:txBody>
          <a:bodyPr wrap="square" lIns="0" tIns="0" rIns="0" bIns="0" rtlCol="0" anchor="ctr"/>
          <a:lstStyle/>
          <a:p>
            <a:pPr indent="0" marL="0">
              <a:buNone/>
            </a:pPr>
            <a:r>
              <a:rPr lang="en-US" sz="1400" dirty="0">
                <a:solidFill>
                  <a:srgbClr val="3D405B"/>
                </a:solidFill>
                <a:latin typeface="Arial" pitchFamily="34" charset="0"/>
                <a:ea typeface="Arial" pitchFamily="34" charset="-122"/>
                <a:cs typeface="Arial" pitchFamily="34" charset="-120"/>
              </a:rPr>
              <a:t>Reconocer y validar</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las emociones</a:t>
            </a:r>
            <a:endParaRPr lang="en-US" sz="1400" dirty="0"/>
          </a:p>
          <a:p>
            <a:pPr indent="0" marL="0">
              <a:buNone/>
            </a:pPr>
            <a:r>
              <a:rPr lang="en-US" sz="1400" dirty="0">
                <a:solidFill>
                  <a:srgbClr val="3D405B"/>
                </a:solidFill>
                <a:latin typeface="Arial" pitchFamily="34" charset="0"/>
                <a:ea typeface="Arial" pitchFamily="34" charset="-122"/>
                <a:cs typeface="Arial" pitchFamily="34" charset="-120"/>
              </a:rPr>
              <a:t>de los compañeros.</a:t>
            </a:r>
            <a:endParaRPr lang="en-US" sz="1400" dirty="0"/>
          </a:p>
        </p:txBody>
      </p:sp>
      <p:sp>
        <p:nvSpPr>
          <p:cNvPr id="12" name="Text 8"/>
          <p:cNvSpPr/>
          <p:nvPr/>
        </p:nvSpPr>
        <p:spPr>
          <a:xfrm>
            <a:off x="5760720" y="3017520"/>
            <a:ext cx="2834640" cy="822960"/>
          </a:xfrm>
          <a:prstGeom prst="rect">
            <a:avLst/>
          </a:prstGeom>
          <a:noFill/>
          <a:ln/>
        </p:spPr>
        <p:txBody>
          <a:bodyPr wrap="square" lIns="0" tIns="0" rIns="0" bIns="0" rtlCol="0" anchor="ctr"/>
          <a:lstStyle/>
          <a:p>
            <a:pPr indent="0" marL="0">
              <a:buNone/>
            </a:pPr>
            <a:r>
              <a:rPr lang="en-US" sz="1200" i="1" dirty="0">
                <a:solidFill>
                  <a:srgbClr val="2D2A32"/>
                </a:solidFill>
                <a:latin typeface="Arial" pitchFamily="34" charset="0"/>
                <a:ea typeface="Arial" pitchFamily="34" charset="-122"/>
                <a:cs typeface="Arial" pitchFamily="34" charset="-120"/>
              </a:rPr>
              <a:t>Se está trabajando</a:t>
            </a:r>
            <a:endParaRPr lang="en-US" sz="1200" dirty="0"/>
          </a:p>
          <a:p>
            <a:pPr indent="0" marL="0">
              <a:buNone/>
            </a:pPr>
            <a:r>
              <a:rPr lang="en-US" sz="1200" i="1" dirty="0">
                <a:solidFill>
                  <a:srgbClr val="2D2A32"/>
                </a:solidFill>
                <a:latin typeface="Arial" pitchFamily="34" charset="0"/>
                <a:ea typeface="Arial" pitchFamily="34" charset="-122"/>
                <a:cs typeface="Arial" pitchFamily="34" charset="-120"/>
              </a:rPr>
              <a:t>actualmente en los cursos.</a:t>
            </a:r>
            <a:endParaRPr lang="en-US" sz="1200" dirty="0"/>
          </a:p>
        </p:txBody>
      </p:sp>
      <p:sp>
        <p:nvSpPr>
          <p:cNvPr id="13" name="Text 9"/>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4" name="Text 10"/>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6 / 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Shape 0"/>
          <p:cNvSpPr/>
          <p:nvPr/>
        </p:nvSpPr>
        <p:spPr>
          <a:xfrm>
            <a:off x="1371600" y="1188720"/>
            <a:ext cx="6400800" cy="2560320"/>
          </a:xfrm>
          <a:prstGeom prst="roundRect">
            <a:avLst>
              <a:gd name="adj" fmla="val 7143"/>
            </a:avLst>
          </a:prstGeom>
          <a:solidFill>
            <a:srgbClr val="F2CC8F"/>
          </a:solidFill>
          <a:ln/>
        </p:spPr>
      </p:sp>
      <p:sp>
        <p:nvSpPr>
          <p:cNvPr id="5" name="Text 1"/>
          <p:cNvSpPr/>
          <p:nvPr/>
        </p:nvSpPr>
        <p:spPr>
          <a:xfrm>
            <a:off x="777240" y="502920"/>
            <a:ext cx="7589520" cy="457200"/>
          </a:xfrm>
          <a:prstGeom prst="rect">
            <a:avLst/>
          </a:prstGeom>
          <a:noFill/>
          <a:ln/>
        </p:spPr>
        <p:txBody>
          <a:bodyPr wrap="square" lIns="0" tIns="0" rIns="0" bIns="0" rtlCol="0" anchor="ctr"/>
          <a:lstStyle/>
          <a:p>
            <a:pPr indent="0" marL="0">
              <a:buNone/>
            </a:pPr>
            <a:r>
              <a:rPr lang="en-US" sz="2800" b="1" dirty="0">
                <a:solidFill>
                  <a:srgbClr val="2D2A32"/>
                </a:solidFill>
                <a:latin typeface="Arial" pitchFamily="34" charset="0"/>
                <a:ea typeface="Arial" pitchFamily="34" charset="-122"/>
                <a:cs typeface="Arial" pitchFamily="34" charset="-120"/>
              </a:rPr>
              <a:t>Lo que viene</a:t>
            </a:r>
            <a:endParaRPr lang="en-US" sz="2800" dirty="0"/>
          </a:p>
        </p:txBody>
      </p:sp>
      <p:sp>
        <p:nvSpPr>
          <p:cNvPr id="6" name="Text 2"/>
          <p:cNvSpPr/>
          <p:nvPr/>
        </p:nvSpPr>
        <p:spPr>
          <a:xfrm>
            <a:off x="1645920" y="1554480"/>
            <a:ext cx="5852160" cy="457200"/>
          </a:xfrm>
          <a:prstGeom prst="rect">
            <a:avLst/>
          </a:prstGeom>
          <a:noFill/>
          <a:ln/>
        </p:spPr>
        <p:txBody>
          <a:bodyPr wrap="square" lIns="0" tIns="0" rIns="0" bIns="0" rtlCol="0" anchor="ctr"/>
          <a:lstStyle/>
          <a:p>
            <a:pPr algn="ctr" indent="0" marL="0">
              <a:buNone/>
            </a:pPr>
            <a:r>
              <a:rPr lang="en-US" sz="2200" b="1" dirty="0">
                <a:solidFill>
                  <a:srgbClr val="2D2A32"/>
                </a:solidFill>
                <a:latin typeface="Arial" pitchFamily="34" charset="0"/>
                <a:ea typeface="Arial" pitchFamily="34" charset="-122"/>
                <a:cs typeface="Arial" pitchFamily="34" charset="-120"/>
              </a:rPr>
              <a:t>Trabajo en equipo</a:t>
            </a:r>
            <a:endParaRPr lang="en-US" sz="2200" dirty="0"/>
          </a:p>
        </p:txBody>
      </p:sp>
      <p:sp>
        <p:nvSpPr>
          <p:cNvPr id="7" name="Text 3"/>
          <p:cNvSpPr/>
          <p:nvPr/>
        </p:nvSpPr>
        <p:spPr>
          <a:xfrm>
            <a:off x="1645920" y="2194560"/>
            <a:ext cx="5852160" cy="822960"/>
          </a:xfrm>
          <a:prstGeom prst="rect">
            <a:avLst/>
          </a:prstGeom>
          <a:noFill/>
          <a:ln/>
        </p:spPr>
        <p:txBody>
          <a:bodyPr wrap="square" lIns="0" tIns="0" rIns="0" bIns="0" rtlCol="0" anchor="ctr"/>
          <a:lstStyle/>
          <a:p>
            <a:pPr algn="ctr" indent="0" marL="0">
              <a:buNone/>
            </a:pPr>
            <a:r>
              <a:rPr lang="en-US" sz="1800" dirty="0">
                <a:solidFill>
                  <a:srgbClr val="3D405B"/>
                </a:solidFill>
                <a:latin typeface="Arial" pitchFamily="34" charset="0"/>
                <a:ea typeface="Arial" pitchFamily="34" charset="-122"/>
                <a:cs typeface="Arial" pitchFamily="34" charset="-120"/>
              </a:rPr>
              <a:t>Colaborar con otros</a:t>
            </a:r>
            <a:endParaRPr lang="en-US" sz="1800" dirty="0"/>
          </a:p>
          <a:p>
            <a:pPr algn="ctr" indent="0" marL="0">
              <a:buNone/>
            </a:pPr>
            <a:r>
              <a:rPr lang="en-US" sz="1800" dirty="0">
                <a:solidFill>
                  <a:srgbClr val="3D405B"/>
                </a:solidFill>
                <a:latin typeface="Arial" pitchFamily="34" charset="0"/>
                <a:ea typeface="Arial" pitchFamily="34" charset="-122"/>
                <a:cs typeface="Arial" pitchFamily="34" charset="-120"/>
              </a:rPr>
              <a:t>para alcanzar una meta común.</a:t>
            </a:r>
            <a:endParaRPr lang="en-US" sz="1800" dirty="0"/>
          </a:p>
        </p:txBody>
      </p:sp>
      <p:sp>
        <p:nvSpPr>
          <p:cNvPr id="8" name="Text 4"/>
          <p:cNvSpPr/>
          <p:nvPr/>
        </p:nvSpPr>
        <p:spPr>
          <a:xfrm>
            <a:off x="1645920" y="3108960"/>
            <a:ext cx="5852160" cy="365760"/>
          </a:xfrm>
          <a:prstGeom prst="rect">
            <a:avLst/>
          </a:prstGeom>
          <a:noFill/>
          <a:ln/>
        </p:spPr>
        <p:txBody>
          <a:bodyPr wrap="square" lIns="0" tIns="0" rIns="0" bIns="0" rtlCol="0" anchor="ctr"/>
          <a:lstStyle/>
          <a:p>
            <a:pPr algn="ctr" indent="0" marL="0">
              <a:buNone/>
            </a:pPr>
            <a:r>
              <a:rPr lang="en-US" sz="1400" i="1" dirty="0">
                <a:solidFill>
                  <a:srgbClr val="E07A5F"/>
                </a:solidFill>
                <a:latin typeface="Arial" pitchFamily="34" charset="0"/>
                <a:ea typeface="Arial" pitchFamily="34" charset="-122"/>
                <a:cs typeface="Arial" pitchFamily="34" charset="-120"/>
              </a:rPr>
              <a:t>Próximo taller · Noviembre</a:t>
            </a:r>
            <a:endParaRPr lang="en-US" sz="1400" dirty="0"/>
          </a:p>
        </p:txBody>
      </p:sp>
      <p:sp>
        <p:nvSpPr>
          <p:cNvPr id="9" name="Text 5"/>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0" name="Text 6"/>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7 / 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Text 0"/>
          <p:cNvSpPr/>
          <p:nvPr/>
        </p:nvSpPr>
        <p:spPr>
          <a:xfrm>
            <a:off x="777240" y="502920"/>
            <a:ext cx="7589520" cy="457200"/>
          </a:xfrm>
          <a:prstGeom prst="rect">
            <a:avLst/>
          </a:prstGeom>
          <a:noFill/>
          <a:ln/>
        </p:spPr>
        <p:txBody>
          <a:bodyPr wrap="square" lIns="0" tIns="0" rIns="0" bIns="0" rtlCol="0" anchor="ctr"/>
          <a:lstStyle/>
          <a:p>
            <a:pPr indent="0" marL="0">
              <a:buNone/>
            </a:pPr>
            <a:r>
              <a:rPr lang="en-US" sz="2400" b="1" dirty="0">
                <a:solidFill>
                  <a:srgbClr val="2D2A32"/>
                </a:solidFill>
                <a:latin typeface="Arial" pitchFamily="34" charset="0"/>
                <a:ea typeface="Arial" pitchFamily="34" charset="-122"/>
                <a:cs typeface="Arial" pitchFamily="34" charset="-120"/>
              </a:rPr>
              <a:t>¿Cómo podemos reforzarlo en casa?</a:t>
            </a:r>
            <a:endParaRPr lang="en-US" sz="2400" dirty="0"/>
          </a:p>
        </p:txBody>
      </p:sp>
      <p:sp>
        <p:nvSpPr>
          <p:cNvPr id="5" name="Shape 1"/>
          <p:cNvSpPr/>
          <p:nvPr/>
        </p:nvSpPr>
        <p:spPr>
          <a:xfrm>
            <a:off x="457200" y="960120"/>
            <a:ext cx="411480" cy="411480"/>
          </a:xfrm>
          <a:prstGeom prst="ellipse">
            <a:avLst/>
          </a:prstGeom>
          <a:solidFill>
            <a:srgbClr val="E07A5F"/>
          </a:solidFill>
          <a:ln/>
        </p:spPr>
      </p:sp>
      <p:sp>
        <p:nvSpPr>
          <p:cNvPr id="6" name="Text 2"/>
          <p:cNvSpPr/>
          <p:nvPr/>
        </p:nvSpPr>
        <p:spPr>
          <a:xfrm>
            <a:off x="457200" y="9601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3"/>
          <p:cNvSpPr/>
          <p:nvPr/>
        </p:nvSpPr>
        <p:spPr>
          <a:xfrm>
            <a:off x="1005840" y="914400"/>
            <a:ext cx="7498080" cy="640080"/>
          </a:xfrm>
          <a:prstGeom prst="rect">
            <a:avLst/>
          </a:prstGeom>
          <a:noFill/>
          <a:ln/>
        </p:spPr>
        <p:txBody>
          <a:bodyPr wrap="square" lIns="0" tIns="0" rIns="0" bIns="0" rtlCol="0" anchor="ctr"/>
          <a:lstStyle/>
          <a:p>
            <a:pPr indent="0" marL="0">
              <a:buNone/>
            </a:pPr>
            <a:r>
              <a:rPr lang="en-US" sz="1500" dirty="0">
                <a:solidFill>
                  <a:srgbClr val="2D2A32"/>
                </a:solidFill>
                <a:latin typeface="Arial" pitchFamily="34" charset="0"/>
                <a:ea typeface="Arial" pitchFamily="34" charset="-122"/>
                <a:cs typeface="Arial" pitchFamily="34" charset="-120"/>
              </a:rPr>
              <a:t>Nombrar y validar las emociones</a:t>
            </a:r>
            <a:endParaRPr lang="en-US" sz="1500" dirty="0"/>
          </a:p>
          <a:p>
            <a:pPr indent="0" marL="0">
              <a:buNone/>
            </a:pPr>
            <a:r>
              <a:rPr lang="en-US" sz="1500" dirty="0">
                <a:solidFill>
                  <a:srgbClr val="2D2A32"/>
                </a:solidFill>
                <a:latin typeface="Arial" pitchFamily="34" charset="0"/>
                <a:ea typeface="Arial" pitchFamily="34" charset="-122"/>
                <a:cs typeface="Arial" pitchFamily="34" charset="-120"/>
              </a:rPr>
              <a:t>(«veo que estás molesto, es normal»).</a:t>
            </a:r>
            <a:endParaRPr lang="en-US" sz="1500" dirty="0"/>
          </a:p>
        </p:txBody>
      </p:sp>
      <p:sp>
        <p:nvSpPr>
          <p:cNvPr id="8" name="Shape 4"/>
          <p:cNvSpPr/>
          <p:nvPr/>
        </p:nvSpPr>
        <p:spPr>
          <a:xfrm>
            <a:off x="457200" y="1828800"/>
            <a:ext cx="411480" cy="411480"/>
          </a:xfrm>
          <a:prstGeom prst="ellipse">
            <a:avLst/>
          </a:prstGeom>
          <a:solidFill>
            <a:srgbClr val="E07A5F"/>
          </a:solidFill>
          <a:ln/>
        </p:spPr>
      </p:sp>
      <p:sp>
        <p:nvSpPr>
          <p:cNvPr id="9" name="Text 5"/>
          <p:cNvSpPr/>
          <p:nvPr/>
        </p:nvSpPr>
        <p:spPr>
          <a:xfrm>
            <a:off x="457200" y="18288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0" name="Text 6"/>
          <p:cNvSpPr/>
          <p:nvPr/>
        </p:nvSpPr>
        <p:spPr>
          <a:xfrm>
            <a:off x="1005840" y="1783080"/>
            <a:ext cx="7498080" cy="640080"/>
          </a:xfrm>
          <a:prstGeom prst="rect">
            <a:avLst/>
          </a:prstGeom>
          <a:noFill/>
          <a:ln/>
        </p:spPr>
        <p:txBody>
          <a:bodyPr wrap="square" lIns="0" tIns="0" rIns="0" bIns="0" rtlCol="0" anchor="ctr"/>
          <a:lstStyle/>
          <a:p>
            <a:pPr indent="0" marL="0">
              <a:buNone/>
            </a:pPr>
            <a:r>
              <a:rPr lang="en-US" sz="1500" dirty="0">
                <a:solidFill>
                  <a:srgbClr val="2D2A32"/>
                </a:solidFill>
                <a:latin typeface="Arial" pitchFamily="34" charset="0"/>
                <a:ea typeface="Arial" pitchFamily="34" charset="-122"/>
                <a:cs typeface="Arial" pitchFamily="34" charset="-120"/>
              </a:rPr>
              <a:t>Modelar una pausa para recuperar</a:t>
            </a:r>
            <a:endParaRPr lang="en-US" sz="1500" dirty="0"/>
          </a:p>
          <a:p>
            <a:pPr indent="0" marL="0">
              <a:buNone/>
            </a:pPr>
            <a:r>
              <a:rPr lang="en-US" sz="1500" dirty="0">
                <a:solidFill>
                  <a:srgbClr val="2D2A32"/>
                </a:solidFill>
                <a:latin typeface="Arial" pitchFamily="34" charset="0"/>
                <a:ea typeface="Arial" pitchFamily="34" charset="-122"/>
                <a:cs typeface="Arial" pitchFamily="34" charset="-120"/>
              </a:rPr>
              <a:t>la calma (respirar juntos).</a:t>
            </a:r>
            <a:endParaRPr lang="en-US" sz="1500" dirty="0"/>
          </a:p>
        </p:txBody>
      </p:sp>
      <p:sp>
        <p:nvSpPr>
          <p:cNvPr id="11" name="Shape 7"/>
          <p:cNvSpPr/>
          <p:nvPr/>
        </p:nvSpPr>
        <p:spPr>
          <a:xfrm>
            <a:off x="457200" y="2697480"/>
            <a:ext cx="411480" cy="411480"/>
          </a:xfrm>
          <a:prstGeom prst="ellipse">
            <a:avLst/>
          </a:prstGeom>
          <a:solidFill>
            <a:srgbClr val="E07A5F"/>
          </a:solidFill>
          <a:ln/>
        </p:spPr>
      </p:sp>
      <p:sp>
        <p:nvSpPr>
          <p:cNvPr id="12" name="Text 8"/>
          <p:cNvSpPr/>
          <p:nvPr/>
        </p:nvSpPr>
        <p:spPr>
          <a:xfrm>
            <a:off x="457200" y="26974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3" name="Text 9"/>
          <p:cNvSpPr/>
          <p:nvPr/>
        </p:nvSpPr>
        <p:spPr>
          <a:xfrm>
            <a:off x="1005840" y="2651760"/>
            <a:ext cx="7498080" cy="640080"/>
          </a:xfrm>
          <a:prstGeom prst="rect">
            <a:avLst/>
          </a:prstGeom>
          <a:noFill/>
          <a:ln/>
        </p:spPr>
        <p:txBody>
          <a:bodyPr wrap="square" lIns="0" tIns="0" rIns="0" bIns="0" rtlCol="0" anchor="ctr"/>
          <a:lstStyle/>
          <a:p>
            <a:pPr indent="0" marL="0">
              <a:buNone/>
            </a:pPr>
            <a:r>
              <a:rPr lang="en-US" sz="1500" dirty="0">
                <a:solidFill>
                  <a:srgbClr val="2D2A32"/>
                </a:solidFill>
                <a:latin typeface="Arial" pitchFamily="34" charset="0"/>
                <a:ea typeface="Arial" pitchFamily="34" charset="-122"/>
                <a:cs typeface="Arial" pitchFamily="34" charset="-120"/>
              </a:rPr>
              <a:t>Reconocer el esfuerzo sin comparar</a:t>
            </a:r>
            <a:endParaRPr lang="en-US" sz="1500" dirty="0"/>
          </a:p>
          <a:p>
            <a:pPr indent="0" marL="0">
              <a:buNone/>
            </a:pPr>
            <a:r>
              <a:rPr lang="en-US" sz="1500" dirty="0">
                <a:solidFill>
                  <a:srgbClr val="2D2A32"/>
                </a:solidFill>
                <a:latin typeface="Arial" pitchFamily="34" charset="0"/>
                <a:ea typeface="Arial" pitchFamily="34" charset="-122"/>
                <a:cs typeface="Arial" pitchFamily="34" charset="-120"/>
              </a:rPr>
              <a:t>a los niños («qué bien lo intentaste»).</a:t>
            </a:r>
            <a:endParaRPr lang="en-US" sz="1500" dirty="0"/>
          </a:p>
        </p:txBody>
      </p:sp>
      <p:sp>
        <p:nvSpPr>
          <p:cNvPr id="14" name="Shape 10"/>
          <p:cNvSpPr/>
          <p:nvPr/>
        </p:nvSpPr>
        <p:spPr>
          <a:xfrm>
            <a:off x="457200" y="3566160"/>
            <a:ext cx="411480" cy="411480"/>
          </a:xfrm>
          <a:prstGeom prst="ellipse">
            <a:avLst/>
          </a:prstGeom>
          <a:solidFill>
            <a:srgbClr val="E07A5F"/>
          </a:solidFill>
          <a:ln/>
        </p:spPr>
      </p:sp>
      <p:sp>
        <p:nvSpPr>
          <p:cNvPr id="15" name="Text 11"/>
          <p:cNvSpPr/>
          <p:nvPr/>
        </p:nvSpPr>
        <p:spPr>
          <a:xfrm>
            <a:off x="457200" y="3566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16" name="Text 12"/>
          <p:cNvSpPr/>
          <p:nvPr/>
        </p:nvSpPr>
        <p:spPr>
          <a:xfrm>
            <a:off x="1005840" y="3520440"/>
            <a:ext cx="7498080" cy="640080"/>
          </a:xfrm>
          <a:prstGeom prst="rect">
            <a:avLst/>
          </a:prstGeom>
          <a:noFill/>
          <a:ln/>
        </p:spPr>
        <p:txBody>
          <a:bodyPr wrap="square" lIns="0" tIns="0" rIns="0" bIns="0" rtlCol="0" anchor="ctr"/>
          <a:lstStyle/>
          <a:p>
            <a:pPr indent="0" marL="0">
              <a:buNone/>
            </a:pPr>
            <a:r>
              <a:rPr lang="en-US" sz="1500" dirty="0">
                <a:solidFill>
                  <a:srgbClr val="2D2A32"/>
                </a:solidFill>
                <a:latin typeface="Arial" pitchFamily="34" charset="0"/>
                <a:ea typeface="Arial" pitchFamily="34" charset="-122"/>
                <a:cs typeface="Arial" pitchFamily="34" charset="-120"/>
              </a:rPr>
              <a:t>Practicar turnos, escucha</a:t>
            </a:r>
            <a:endParaRPr lang="en-US" sz="1500" dirty="0"/>
          </a:p>
          <a:p>
            <a:pPr indent="0" marL="0">
              <a:buNone/>
            </a:pPr>
            <a:r>
              <a:rPr lang="en-US" sz="1500" dirty="0">
                <a:solidFill>
                  <a:srgbClr val="2D2A32"/>
                </a:solidFill>
                <a:latin typeface="Arial" pitchFamily="34" charset="0"/>
                <a:ea typeface="Arial" pitchFamily="34" charset="-122"/>
                <a:cs typeface="Arial" pitchFamily="34" charset="-120"/>
              </a:rPr>
              <a:t>y colaboración en juegos o tareas.</a:t>
            </a:r>
            <a:endParaRPr lang="en-US" sz="1500" dirty="0"/>
          </a:p>
        </p:txBody>
      </p:sp>
      <p:sp>
        <p:nvSpPr>
          <p:cNvPr id="17" name="Text 13"/>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8" name="Text 14"/>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8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F0"/>
        </a:solidFill>
      </p:bgPr>
    </p:bg>
    <p:spTree>
      <p:nvGrpSpPr>
        <p:cNvPr id="1" name=""/>
        <p:cNvGrpSpPr/>
        <p:nvPr/>
      </p:nvGrpSpPr>
      <p:grpSpPr>
        <a:xfrm>
          <a:off x="0" y="0"/>
          <a:ext cx="0" cy="0"/>
          <a:chOff x="0" y="0"/>
          <a:chExt cx="0" cy="0"/>
        </a:xfrm>
      </p:grpSpPr>
      <p:pic>
        <p:nvPicPr>
          <p:cNvPr id="2" name="Image 0" descr="/workspace/artifacts/logo_escudo_small.png">    </p:cNvPr>
          <p:cNvPicPr>
            <a:picLocks noChangeAspect="1"/>
          </p:cNvPicPr>
          <p:nvPr/>
        </p:nvPicPr>
        <p:blipFill>
          <a:blip r:embed="rId1"/>
          <a:stretch>
            <a:fillRect/>
          </a:stretch>
        </p:blipFill>
        <p:spPr>
          <a:xfrm>
            <a:off x="91440" y="45720"/>
            <a:ext cx="502920" cy="502920"/>
          </a:xfrm>
          <a:prstGeom prst="rect">
            <a:avLst/>
          </a:prstGeom>
        </p:spPr>
      </p:pic>
      <p:pic>
        <p:nvPicPr>
          <p:cNvPr id="3" name="Image 1" descr="/workspace/artifacts/logo_convivencia_small.png">    </p:cNvPr>
          <p:cNvPicPr>
            <a:picLocks noChangeAspect="1"/>
          </p:cNvPicPr>
          <p:nvPr/>
        </p:nvPicPr>
        <p:blipFill>
          <a:blip r:embed="rId2"/>
          <a:stretch>
            <a:fillRect/>
          </a:stretch>
        </p:blipFill>
        <p:spPr>
          <a:xfrm>
            <a:off x="8549640" y="45720"/>
            <a:ext cx="502920" cy="502920"/>
          </a:xfrm>
          <a:prstGeom prst="rect">
            <a:avLst/>
          </a:prstGeom>
        </p:spPr>
      </p:pic>
      <p:sp>
        <p:nvSpPr>
          <p:cNvPr id="4" name="Text 0"/>
          <p:cNvSpPr/>
          <p:nvPr/>
        </p:nvSpPr>
        <p:spPr>
          <a:xfrm>
            <a:off x="548640" y="365760"/>
            <a:ext cx="8046720" cy="822960"/>
          </a:xfrm>
          <a:prstGeom prst="rect">
            <a:avLst/>
          </a:prstGeom>
          <a:noFill/>
          <a:ln/>
        </p:spPr>
        <p:txBody>
          <a:bodyPr wrap="square" lIns="0" tIns="0" rIns="0" bIns="0" rtlCol="0" anchor="ctr"/>
          <a:lstStyle/>
          <a:p>
            <a:pPr algn="ctr" indent="0" marL="0">
              <a:buNone/>
            </a:pPr>
            <a:r>
              <a:rPr lang="en-US" sz="2200" b="1" dirty="0">
                <a:solidFill>
                  <a:srgbClr val="2D2A32"/>
                </a:solidFill>
                <a:latin typeface="Arial" pitchFamily="34" charset="0"/>
                <a:ea typeface="Arial" pitchFamily="34" charset="-122"/>
                <a:cs typeface="Arial" pitchFamily="34" charset="-120"/>
              </a:rPr>
              <a:t>Escuela y familia acompañamos juntos</a:t>
            </a:r>
            <a:endParaRPr lang="en-US" sz="2200" dirty="0"/>
          </a:p>
          <a:p>
            <a:pPr algn="ctr" indent="0" marL="0">
              <a:buNone/>
            </a:pPr>
            <a:r>
              <a:rPr lang="en-US" sz="2200" b="1" dirty="0">
                <a:solidFill>
                  <a:srgbClr val="2D2A32"/>
                </a:solidFill>
                <a:latin typeface="Arial" pitchFamily="34" charset="0"/>
                <a:ea typeface="Arial" pitchFamily="34" charset="-122"/>
                <a:cs typeface="Arial" pitchFamily="34" charset="-120"/>
              </a:rPr>
              <a:t>el desarrollo socioemocional</a:t>
            </a:r>
            <a:endParaRPr lang="en-US" sz="2200" dirty="0"/>
          </a:p>
        </p:txBody>
      </p:sp>
      <p:sp>
        <p:nvSpPr>
          <p:cNvPr id="5" name="Text 1"/>
          <p:cNvSpPr/>
          <p:nvPr/>
        </p:nvSpPr>
        <p:spPr>
          <a:xfrm>
            <a:off x="731520" y="1371600"/>
            <a:ext cx="5029200" cy="1188720"/>
          </a:xfrm>
          <a:prstGeom prst="rect">
            <a:avLst/>
          </a:prstGeom>
          <a:noFill/>
          <a:ln/>
        </p:spPr>
        <p:txBody>
          <a:bodyPr wrap="square" lIns="0" tIns="0" rIns="0" bIns="0" rtlCol="0" anchor="ctr"/>
          <a:lstStyle/>
          <a:p>
            <a:pPr indent="0" marL="0">
              <a:buNone/>
            </a:pPr>
            <a:r>
              <a:rPr lang="en-US" sz="1600" dirty="0">
                <a:solidFill>
                  <a:srgbClr val="3D405B"/>
                </a:solidFill>
                <a:latin typeface="Arial" pitchFamily="34" charset="0"/>
                <a:ea typeface="Arial" pitchFamily="34" charset="-122"/>
                <a:cs typeface="Arial" pitchFamily="34" charset="-120"/>
              </a:rPr>
              <a:t>Una pregunta para llevarse:</a:t>
            </a:r>
            <a:endParaRPr lang="en-US" sz="1600" dirty="0"/>
          </a:p>
          <a:p>
            <a:pPr indent="0" marL="0">
              <a:buNone/>
            </a:pPr>
            <a:r>
              <a:rPr lang="en-US" sz="1600" dirty="0">
                <a:solidFill>
                  <a:srgbClr val="3D405B"/>
                </a:solidFill>
                <a:latin typeface="Arial" pitchFamily="34" charset="0"/>
                <a:ea typeface="Arial" pitchFamily="34" charset="-122"/>
                <a:cs typeface="Arial" pitchFamily="34" charset="-120"/>
              </a:rPr>
              <a:t>¿Qué emoción notaron hoy en su hijo o hija</a:t>
            </a:r>
            <a:endParaRPr lang="en-US" sz="1600" dirty="0"/>
          </a:p>
          <a:p>
            <a:pPr indent="0" marL="0">
              <a:buNone/>
            </a:pPr>
            <a:r>
              <a:rPr lang="en-US" sz="1600" dirty="0">
                <a:solidFill>
                  <a:srgbClr val="3D405B"/>
                </a:solidFill>
                <a:latin typeface="Arial" pitchFamily="34" charset="0"/>
                <a:ea typeface="Arial" pitchFamily="34" charset="-122"/>
                <a:cs typeface="Arial" pitchFamily="34" charset="-120"/>
              </a:rPr>
              <a:t>y cómo la acompañaron?</a:t>
            </a:r>
            <a:endParaRPr lang="en-US" sz="1600" dirty="0"/>
          </a:p>
        </p:txBody>
      </p:sp>
      <p:sp>
        <p:nvSpPr>
          <p:cNvPr id="6" name="Text 2"/>
          <p:cNvSpPr/>
          <p:nvPr/>
        </p:nvSpPr>
        <p:spPr>
          <a:xfrm>
            <a:off x="731520" y="2697480"/>
            <a:ext cx="5029200" cy="731520"/>
          </a:xfrm>
          <a:prstGeom prst="rect">
            <a:avLst/>
          </a:prstGeom>
          <a:noFill/>
          <a:ln/>
        </p:spPr>
        <p:txBody>
          <a:bodyPr wrap="square" lIns="0" tIns="0" rIns="0" bIns="0" rtlCol="0" anchor="ctr"/>
          <a:lstStyle/>
          <a:p>
            <a:pPr indent="0" marL="0">
              <a:buNone/>
            </a:pPr>
            <a:r>
              <a:rPr lang="en-US" sz="1600" i="1" dirty="0">
                <a:solidFill>
                  <a:srgbClr val="E07A5F"/>
                </a:solidFill>
                <a:latin typeface="Arial" pitchFamily="34" charset="0"/>
                <a:ea typeface="Arial" pitchFamily="34" charset="-122"/>
                <a:cs typeface="Arial" pitchFamily="34" charset="-120"/>
              </a:rPr>
              <a:t>Gracias por acompañarnos</a:t>
            </a:r>
            <a:endParaRPr lang="en-US" sz="1600" dirty="0"/>
          </a:p>
          <a:p>
            <a:pPr indent="0" marL="0">
              <a:buNone/>
            </a:pPr>
            <a:r>
              <a:rPr lang="en-US" sz="1600" i="1" dirty="0">
                <a:solidFill>
                  <a:srgbClr val="E07A5F"/>
                </a:solidFill>
                <a:latin typeface="Arial" pitchFamily="34" charset="0"/>
                <a:ea typeface="Arial" pitchFamily="34" charset="-122"/>
                <a:cs typeface="Arial" pitchFamily="34" charset="-120"/>
              </a:rPr>
              <a:t>y por el cuidado que dan en casa.</a:t>
            </a:r>
            <a:endParaRPr lang="en-US" sz="1600" dirty="0"/>
          </a:p>
        </p:txBody>
      </p:sp>
      <p:pic>
        <p:nvPicPr>
          <p:cNvPr id="7" name="Image 2" descr="/workspace/artifacts/encuesta_qr.png">    </p:cNvPr>
          <p:cNvPicPr>
            <a:picLocks noChangeAspect="1"/>
          </p:cNvPicPr>
          <p:nvPr/>
        </p:nvPicPr>
        <p:blipFill>
          <a:blip r:embed="rId3"/>
          <a:stretch>
            <a:fillRect/>
          </a:stretch>
        </p:blipFill>
        <p:spPr>
          <a:xfrm>
            <a:off x="6217920" y="1371600"/>
            <a:ext cx="2194560" cy="2194560"/>
          </a:xfrm>
          <a:prstGeom prst="rect">
            <a:avLst/>
          </a:prstGeom>
        </p:spPr>
      </p:pic>
      <p:sp>
        <p:nvSpPr>
          <p:cNvPr id="8" name="Text 3"/>
          <p:cNvSpPr/>
          <p:nvPr/>
        </p:nvSpPr>
        <p:spPr>
          <a:xfrm>
            <a:off x="5943600" y="3657600"/>
            <a:ext cx="2743200" cy="548640"/>
          </a:xfrm>
          <a:prstGeom prst="rect">
            <a:avLst/>
          </a:prstGeom>
          <a:noFill/>
          <a:ln/>
        </p:spPr>
        <p:txBody>
          <a:bodyPr wrap="square" lIns="0" tIns="0" rIns="0" bIns="0" rtlCol="0" anchor="ctr"/>
          <a:lstStyle/>
          <a:p>
            <a:pPr algn="ctr" indent="0" marL="0">
              <a:buNone/>
            </a:pPr>
            <a:r>
              <a:rPr lang="en-US" sz="1200" dirty="0">
                <a:solidFill>
                  <a:srgbClr val="3D405B"/>
                </a:solidFill>
                <a:latin typeface="Arial" pitchFamily="34" charset="0"/>
                <a:ea typeface="Arial" pitchFamily="34" charset="-122"/>
                <a:cs typeface="Arial" pitchFamily="34" charset="-120"/>
              </a:rPr>
              <a:t>Escanee para responder</a:t>
            </a:r>
            <a:endParaRPr lang="en-US" sz="1200" dirty="0"/>
          </a:p>
          <a:p>
            <a:pPr algn="ctr" indent="0" marL="0">
              <a:buNone/>
            </a:pPr>
            <a:r>
              <a:rPr lang="en-US" sz="1200" dirty="0">
                <a:solidFill>
                  <a:srgbClr val="3D405B"/>
                </a:solidFill>
                <a:latin typeface="Arial" pitchFamily="34" charset="0"/>
                <a:ea typeface="Arial" pitchFamily="34" charset="-122"/>
                <a:cs typeface="Arial" pitchFamily="34" charset="-120"/>
              </a:rPr>
              <a:t>la encuesta de cierre</a:t>
            </a:r>
            <a:endParaRPr lang="en-US" sz="1200" dirty="0"/>
          </a:p>
        </p:txBody>
      </p:sp>
      <p:sp>
        <p:nvSpPr>
          <p:cNvPr id="9" name="Text 4"/>
          <p:cNvSpPr/>
          <p:nvPr/>
        </p:nvSpPr>
        <p:spPr>
          <a:xfrm>
            <a:off x="365760" y="4800600"/>
            <a:ext cx="6400800" cy="228600"/>
          </a:xfrm>
          <a:prstGeom prst="rect">
            <a:avLst/>
          </a:prstGeom>
          <a:noFill/>
          <a:ln/>
        </p:spPr>
        <p:txBody>
          <a:bodyPr wrap="square" lIns="0" tIns="0" rIns="0" bIns="0" rtlCol="0" anchor="ctr"/>
          <a:lstStyle/>
          <a:p>
            <a:pPr indent="0" marL="0">
              <a:buNone/>
            </a:pPr>
            <a:r>
              <a:rPr lang="en-US" sz="1000" dirty="0">
                <a:solidFill>
                  <a:srgbClr val="3D405B"/>
                </a:solidFill>
                <a:latin typeface="Arial" pitchFamily="34" charset="0"/>
                <a:ea typeface="Arial" pitchFamily="34" charset="-122"/>
                <a:cs typeface="Arial" pitchFamily="34" charset="-120"/>
              </a:rPr>
              <a:t>Colegio Metodista Robert Johnson  ·  Educación Parvularia</a:t>
            </a:r>
            <a:endParaRPr lang="en-US" sz="1000" dirty="0"/>
          </a:p>
        </p:txBody>
      </p:sp>
      <p:sp>
        <p:nvSpPr>
          <p:cNvPr id="10" name="Text 5"/>
          <p:cNvSpPr/>
          <p:nvPr/>
        </p:nvSpPr>
        <p:spPr>
          <a:xfrm>
            <a:off x="7772400" y="4800600"/>
            <a:ext cx="1005840" cy="228600"/>
          </a:xfrm>
          <a:prstGeom prst="rect">
            <a:avLst/>
          </a:prstGeom>
          <a:noFill/>
          <a:ln/>
        </p:spPr>
        <p:txBody>
          <a:bodyPr wrap="square" lIns="0" tIns="0" rIns="0" bIns="0" rtlCol="0" anchor="ctr"/>
          <a:lstStyle/>
          <a:p>
            <a:pPr algn="r" indent="0" marL="0">
              <a:buNone/>
            </a:pPr>
            <a:r>
              <a:rPr lang="en-US" sz="1000" dirty="0">
                <a:solidFill>
                  <a:srgbClr val="3D405B"/>
                </a:solidFill>
                <a:latin typeface="Arial" pitchFamily="34" charset="0"/>
                <a:ea typeface="Arial" pitchFamily="34" charset="-122"/>
                <a:cs typeface="Arial" pitchFamily="34" charset="-120"/>
              </a:rPr>
              <a:t>9 / 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Crecer juntos: Talleres socioemocionales</dc:title>
  <dc:subject>Presentación para familias de Educación Parvularia</dc:subject>
  <dc:creator>Colegio Metodista Robert Johnson</dc:creator>
  <cp:lastModifiedBy>Colegio Metodista Robert Johnson</cp:lastModifiedBy>
  <cp:revision>1</cp:revision>
  <dcterms:created xsi:type="dcterms:W3CDTF">2026-10-14T14:52:51Z</dcterms:created>
  <dcterms:modified xsi:type="dcterms:W3CDTF">2026-10-14T14:52:51Z</dcterms:modified>
</cp:coreProperties>
</file>